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88825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>
        <p:scale>
          <a:sx n="70" d="100"/>
          <a:sy n="70" d="100"/>
        </p:scale>
        <p:origin x="714" y="6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5B3E5EAA-98DD-45E3-BBEC-B111BA472E94}" type="doc">
      <dgm:prSet loTypeId="urn:microsoft.com/office/officeart/2005/8/layout/chevron1" loCatId="process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s-AR"/>
        </a:p>
      </dgm:t>
    </dgm:pt>
    <dgm:pt modelId="{0284D55B-345C-4883-8D2D-0819CAD0DB44}">
      <dgm:prSet phldrT="[Texto]" phldr="0" custT="1"/>
      <dgm:spPr>
        <a:solidFill>
          <a:schemeClr val="tx2">
            <a:lumMod val="75000"/>
            <a:lumOff val="25000"/>
          </a:schemeClr>
        </a:solidFill>
      </dgm:spPr>
      <dgm:t>
        <a:bodyPr/>
        <a:lstStyle/>
        <a:p>
          <a:r>
            <a:rPr lang="es-AR" sz="1400" b="1" i="0" kern="1200" noProof="0" dirty="0">
              <a:solidFill>
                <a:srgbClr val="FFFFFF"/>
              </a:solidFill>
              <a:latin typeface="Calibri"/>
            </a:rPr>
            <a:t>Carga del </a:t>
          </a:r>
          <a:r>
            <a:rPr lang="es-AR" sz="1400" b="1" i="0" kern="1200" noProof="0" dirty="0" err="1">
              <a:solidFill>
                <a:srgbClr val="FFFFFF"/>
              </a:solidFill>
              <a:latin typeface="Calibri"/>
            </a:rPr>
            <a:t>Dataset</a:t>
          </a:r>
          <a:endParaRPr lang="es-AR" sz="1400" kern="1200" dirty="0"/>
        </a:p>
      </dgm:t>
    </dgm:pt>
    <dgm:pt modelId="{BC6CB485-F430-44FD-BB9A-AB91A65C4CC8}" type="parTrans" cxnId="{D5A24CD4-5595-4BC3-B42A-EB1D48C7068F}">
      <dgm:prSet/>
      <dgm:spPr/>
      <dgm:t>
        <a:bodyPr/>
        <a:lstStyle/>
        <a:p>
          <a:endParaRPr lang="es-AR"/>
        </a:p>
      </dgm:t>
    </dgm:pt>
    <dgm:pt modelId="{2D9C9823-D710-4A82-9CCA-DEEA47AC65E0}" type="sibTrans" cxnId="{D5A24CD4-5595-4BC3-B42A-EB1D48C7068F}">
      <dgm:prSet/>
      <dgm:spPr/>
      <dgm:t>
        <a:bodyPr/>
        <a:lstStyle/>
        <a:p>
          <a:endParaRPr lang="es-AR"/>
        </a:p>
      </dgm:t>
    </dgm:pt>
    <dgm:pt modelId="{298F61E4-4F50-4C7D-ADDE-AD118B7A21C6}">
      <dgm:prSet phldrT="[Texto]" phldr="0" custT="1"/>
      <dgm:spPr>
        <a:solidFill>
          <a:schemeClr val="bg2">
            <a:lumMod val="25000"/>
          </a:schemeClr>
        </a:solidFill>
      </dgm:spPr>
      <dgm:t>
        <a:bodyPr/>
        <a:lstStyle/>
        <a:p>
          <a:r>
            <a:rPr lang="es-AR" sz="1400" b="1" i="0" noProof="0" dirty="0">
              <a:solidFill>
                <a:srgbClr val="FFFFFF"/>
              </a:solidFill>
              <a:latin typeface="Calibri"/>
            </a:rPr>
            <a:t>Limpieza</a:t>
          </a:r>
          <a:endParaRPr lang="es-AR" sz="1400" dirty="0"/>
        </a:p>
      </dgm:t>
    </dgm:pt>
    <dgm:pt modelId="{391AAF2C-185A-4858-B155-49074DE906C7}" type="parTrans" cxnId="{09CF67CF-D308-4418-9AB3-80066DC58B2D}">
      <dgm:prSet/>
      <dgm:spPr/>
      <dgm:t>
        <a:bodyPr/>
        <a:lstStyle/>
        <a:p>
          <a:endParaRPr lang="es-AR"/>
        </a:p>
      </dgm:t>
    </dgm:pt>
    <dgm:pt modelId="{D6D7A760-C720-4EB4-AD29-68E796A65AE7}" type="sibTrans" cxnId="{09CF67CF-D308-4418-9AB3-80066DC58B2D}">
      <dgm:prSet/>
      <dgm:spPr/>
      <dgm:t>
        <a:bodyPr/>
        <a:lstStyle/>
        <a:p>
          <a:endParaRPr lang="es-AR"/>
        </a:p>
      </dgm:t>
    </dgm:pt>
    <dgm:pt modelId="{AE2F09F3-CC10-41A2-B430-F2773A0130A8}">
      <dgm:prSet phldrT="[Texto]" phldr="0" custT="1"/>
      <dgm:spPr>
        <a:solidFill>
          <a:schemeClr val="accent3"/>
        </a:solidFill>
      </dgm:spPr>
      <dgm:t>
        <a:bodyPr/>
        <a:lstStyle/>
        <a:p>
          <a:r>
            <a:rPr lang="es-AR" sz="1400" b="1" i="0" noProof="0" dirty="0">
              <a:solidFill>
                <a:srgbClr val="FFFFFF"/>
              </a:solidFill>
              <a:latin typeface="Calibri"/>
            </a:rPr>
            <a:t>Variable Objetivo</a:t>
          </a:r>
          <a:endParaRPr lang="es-AR" sz="1400" dirty="0"/>
        </a:p>
      </dgm:t>
    </dgm:pt>
    <dgm:pt modelId="{8A63A419-F1B6-4063-8BBF-A6E242A518D4}" type="parTrans" cxnId="{93504142-0115-4B03-ABA1-004D15252098}">
      <dgm:prSet/>
      <dgm:spPr/>
      <dgm:t>
        <a:bodyPr/>
        <a:lstStyle/>
        <a:p>
          <a:endParaRPr lang="es-AR"/>
        </a:p>
      </dgm:t>
    </dgm:pt>
    <dgm:pt modelId="{C8700D7C-C4FC-478A-870A-2CAAD9D0476D}" type="sibTrans" cxnId="{93504142-0115-4B03-ABA1-004D15252098}">
      <dgm:prSet/>
      <dgm:spPr/>
      <dgm:t>
        <a:bodyPr/>
        <a:lstStyle/>
        <a:p>
          <a:endParaRPr lang="es-AR"/>
        </a:p>
      </dgm:t>
    </dgm:pt>
    <dgm:pt modelId="{126F55C6-CD35-4907-AA3B-2B6C5F8327B3}">
      <dgm:prSet phldrT="[Texto]" phldr="0" custT="1"/>
      <dgm:spPr>
        <a:solidFill>
          <a:srgbClr val="FF0000"/>
        </a:solidFill>
      </dgm:spPr>
      <dgm:t>
        <a:bodyPr/>
        <a:lstStyle/>
        <a:p>
          <a:r>
            <a:rPr lang="es-AR" sz="1400" b="1" i="0" noProof="0" dirty="0">
              <a:solidFill>
                <a:srgbClr val="FFFFFF"/>
              </a:solidFill>
              <a:latin typeface="Calibri"/>
            </a:rPr>
            <a:t>Renombramiento</a:t>
          </a:r>
          <a:endParaRPr lang="es-AR" sz="1400" dirty="0"/>
        </a:p>
      </dgm:t>
    </dgm:pt>
    <dgm:pt modelId="{FB1A097E-1C0E-4738-B56F-78E77E149B4B}" type="parTrans" cxnId="{5F2D10DD-24E9-4044-917D-B0631CD56134}">
      <dgm:prSet/>
      <dgm:spPr/>
      <dgm:t>
        <a:bodyPr/>
        <a:lstStyle/>
        <a:p>
          <a:endParaRPr lang="es-AR"/>
        </a:p>
      </dgm:t>
    </dgm:pt>
    <dgm:pt modelId="{40278D06-1DA3-46F6-A609-155C50C85BFC}" type="sibTrans" cxnId="{5F2D10DD-24E9-4044-917D-B0631CD56134}">
      <dgm:prSet/>
      <dgm:spPr/>
      <dgm:t>
        <a:bodyPr/>
        <a:lstStyle/>
        <a:p>
          <a:endParaRPr lang="es-AR"/>
        </a:p>
      </dgm:t>
    </dgm:pt>
    <dgm:pt modelId="{A7E8B56F-0F5C-4AF1-9116-7EB6E288673A}">
      <dgm:prSet phldrT="[Texto]" phldr="0" custT="1"/>
      <dgm:spPr>
        <a:solidFill>
          <a:schemeClr val="accent5">
            <a:lumMod val="75000"/>
          </a:schemeClr>
        </a:solidFill>
      </dgm:spPr>
      <dgm:t>
        <a:bodyPr/>
        <a:lstStyle/>
        <a:p>
          <a:r>
            <a:rPr lang="es-AR" sz="1400" b="1" i="0" noProof="0" dirty="0" err="1">
              <a:solidFill>
                <a:srgbClr val="FFFFFF"/>
              </a:solidFill>
              <a:latin typeface="Calibri"/>
            </a:rPr>
            <a:t>Outliers</a:t>
          </a:r>
          <a:endParaRPr lang="es-AR" sz="1400" dirty="0"/>
        </a:p>
      </dgm:t>
    </dgm:pt>
    <dgm:pt modelId="{9D03F112-B439-4663-B231-F28FABA4C913}" type="parTrans" cxnId="{51A193AA-FBFB-407C-832B-02CDB56322FE}">
      <dgm:prSet/>
      <dgm:spPr/>
      <dgm:t>
        <a:bodyPr/>
        <a:lstStyle/>
        <a:p>
          <a:endParaRPr lang="es-AR"/>
        </a:p>
      </dgm:t>
    </dgm:pt>
    <dgm:pt modelId="{631CB5CB-08A9-4BA9-8691-2D1666FBC616}" type="sibTrans" cxnId="{51A193AA-FBFB-407C-832B-02CDB56322FE}">
      <dgm:prSet/>
      <dgm:spPr/>
      <dgm:t>
        <a:bodyPr/>
        <a:lstStyle/>
        <a:p>
          <a:endParaRPr lang="es-AR"/>
        </a:p>
      </dgm:t>
    </dgm:pt>
    <dgm:pt modelId="{20C98B03-F0C9-4899-A054-7179220846A8}" type="pres">
      <dgm:prSet presAssocID="{5B3E5EAA-98DD-45E3-BBEC-B111BA472E94}" presName="Name0" presStyleCnt="0">
        <dgm:presLayoutVars>
          <dgm:dir/>
          <dgm:animLvl val="lvl"/>
          <dgm:resizeHandles val="exact"/>
        </dgm:presLayoutVars>
      </dgm:prSet>
      <dgm:spPr/>
    </dgm:pt>
    <dgm:pt modelId="{5E5F9CBC-F552-479C-B811-418135C19BE5}" type="pres">
      <dgm:prSet presAssocID="{0284D55B-345C-4883-8D2D-0819CAD0DB44}" presName="parTxOnly" presStyleLbl="node1" presStyleIdx="0" presStyleCnt="5" custScaleX="107197" custScaleY="124755" custLinFactNeighborY="1362">
        <dgm:presLayoutVars>
          <dgm:chMax val="0"/>
          <dgm:chPref val="0"/>
          <dgm:bulletEnabled val="1"/>
        </dgm:presLayoutVars>
      </dgm:prSet>
      <dgm:spPr/>
    </dgm:pt>
    <dgm:pt modelId="{0D03CA80-F218-40B0-8A84-FA3CB3317C83}" type="pres">
      <dgm:prSet presAssocID="{2D9C9823-D710-4A82-9CCA-DEEA47AC65E0}" presName="parTxOnlySpace" presStyleCnt="0"/>
      <dgm:spPr/>
    </dgm:pt>
    <dgm:pt modelId="{36F4E5C5-3E13-4B0F-B367-E369A0732161}" type="pres">
      <dgm:prSet presAssocID="{126F55C6-CD35-4907-AA3B-2B6C5F8327B3}" presName="parTxOnly" presStyleLbl="node1" presStyleIdx="1" presStyleCnt="5" custScaleX="108132" custScaleY="124755" custLinFactNeighborX="5032" custLinFactNeighborY="-522">
        <dgm:presLayoutVars>
          <dgm:chMax val="0"/>
          <dgm:chPref val="0"/>
          <dgm:bulletEnabled val="1"/>
        </dgm:presLayoutVars>
      </dgm:prSet>
      <dgm:spPr/>
    </dgm:pt>
    <dgm:pt modelId="{61BC77DA-0156-434C-A67F-39D834168D5C}" type="pres">
      <dgm:prSet presAssocID="{40278D06-1DA3-46F6-A609-155C50C85BFC}" presName="parTxOnlySpace" presStyleCnt="0"/>
      <dgm:spPr/>
    </dgm:pt>
    <dgm:pt modelId="{5C07CE11-5DD4-4507-9D3E-DA3A00441BEF}" type="pres">
      <dgm:prSet presAssocID="{298F61E4-4F50-4C7D-ADDE-AD118B7A21C6}" presName="parTxOnly" presStyleLbl="node1" presStyleIdx="2" presStyleCnt="5" custScaleY="124755">
        <dgm:presLayoutVars>
          <dgm:chMax val="0"/>
          <dgm:chPref val="0"/>
          <dgm:bulletEnabled val="1"/>
        </dgm:presLayoutVars>
      </dgm:prSet>
      <dgm:spPr/>
    </dgm:pt>
    <dgm:pt modelId="{2A013208-9CF4-4498-94D8-3D27A5F9902D}" type="pres">
      <dgm:prSet presAssocID="{D6D7A760-C720-4EB4-AD29-68E796A65AE7}" presName="parTxOnlySpace" presStyleCnt="0"/>
      <dgm:spPr/>
    </dgm:pt>
    <dgm:pt modelId="{882D9155-5FD0-4B2A-AC22-C0BDB8627B78}" type="pres">
      <dgm:prSet presAssocID="{AE2F09F3-CC10-41A2-B430-F2773A0130A8}" presName="parTxOnly" presStyleLbl="node1" presStyleIdx="3" presStyleCnt="5" custScaleX="110342" custScaleY="124755">
        <dgm:presLayoutVars>
          <dgm:chMax val="0"/>
          <dgm:chPref val="0"/>
          <dgm:bulletEnabled val="1"/>
        </dgm:presLayoutVars>
      </dgm:prSet>
      <dgm:spPr/>
    </dgm:pt>
    <dgm:pt modelId="{7ACA29EE-9E59-4845-A77D-F0D8D17B51C5}" type="pres">
      <dgm:prSet presAssocID="{C8700D7C-C4FC-478A-870A-2CAAD9D0476D}" presName="parTxOnlySpace" presStyleCnt="0"/>
      <dgm:spPr/>
    </dgm:pt>
    <dgm:pt modelId="{E74E1176-460E-43C9-8DE4-E22906F268EB}" type="pres">
      <dgm:prSet presAssocID="{A7E8B56F-0F5C-4AF1-9116-7EB6E288673A}" presName="parTxOnly" presStyleLbl="node1" presStyleIdx="4" presStyleCnt="5" custScaleY="124755">
        <dgm:presLayoutVars>
          <dgm:chMax val="0"/>
          <dgm:chPref val="0"/>
          <dgm:bulletEnabled val="1"/>
        </dgm:presLayoutVars>
      </dgm:prSet>
      <dgm:spPr/>
    </dgm:pt>
  </dgm:ptLst>
  <dgm:cxnLst>
    <dgm:cxn modelId="{96CE7A0A-A947-454D-AA1A-F3510C63EF2B}" type="presOf" srcId="{0284D55B-345C-4883-8D2D-0819CAD0DB44}" destId="{5E5F9CBC-F552-479C-B811-418135C19BE5}" srcOrd="0" destOrd="0" presId="urn:microsoft.com/office/officeart/2005/8/layout/chevron1"/>
    <dgm:cxn modelId="{930C9841-7B0F-4693-A522-2837A7F11E2C}" type="presOf" srcId="{5B3E5EAA-98DD-45E3-BBEC-B111BA472E94}" destId="{20C98B03-F0C9-4899-A054-7179220846A8}" srcOrd="0" destOrd="0" presId="urn:microsoft.com/office/officeart/2005/8/layout/chevron1"/>
    <dgm:cxn modelId="{93504142-0115-4B03-ABA1-004D15252098}" srcId="{5B3E5EAA-98DD-45E3-BBEC-B111BA472E94}" destId="{AE2F09F3-CC10-41A2-B430-F2773A0130A8}" srcOrd="3" destOrd="0" parTransId="{8A63A419-F1B6-4063-8BBF-A6E242A518D4}" sibTransId="{C8700D7C-C4FC-478A-870A-2CAAD9D0476D}"/>
    <dgm:cxn modelId="{936FCC87-101B-4A93-AC2A-9242AC7DF0C2}" type="presOf" srcId="{126F55C6-CD35-4907-AA3B-2B6C5F8327B3}" destId="{36F4E5C5-3E13-4B0F-B367-E369A0732161}" srcOrd="0" destOrd="0" presId="urn:microsoft.com/office/officeart/2005/8/layout/chevron1"/>
    <dgm:cxn modelId="{51A193AA-FBFB-407C-832B-02CDB56322FE}" srcId="{5B3E5EAA-98DD-45E3-BBEC-B111BA472E94}" destId="{A7E8B56F-0F5C-4AF1-9116-7EB6E288673A}" srcOrd="4" destOrd="0" parTransId="{9D03F112-B439-4663-B231-F28FABA4C913}" sibTransId="{631CB5CB-08A9-4BA9-8691-2D1666FBC616}"/>
    <dgm:cxn modelId="{26267EC8-FA64-4591-AF54-A2F1AFCD5709}" type="presOf" srcId="{A7E8B56F-0F5C-4AF1-9116-7EB6E288673A}" destId="{E74E1176-460E-43C9-8DE4-E22906F268EB}" srcOrd="0" destOrd="0" presId="urn:microsoft.com/office/officeart/2005/8/layout/chevron1"/>
    <dgm:cxn modelId="{09CF67CF-D308-4418-9AB3-80066DC58B2D}" srcId="{5B3E5EAA-98DD-45E3-BBEC-B111BA472E94}" destId="{298F61E4-4F50-4C7D-ADDE-AD118B7A21C6}" srcOrd="2" destOrd="0" parTransId="{391AAF2C-185A-4858-B155-49074DE906C7}" sibTransId="{D6D7A760-C720-4EB4-AD29-68E796A65AE7}"/>
    <dgm:cxn modelId="{D5A24CD4-5595-4BC3-B42A-EB1D48C7068F}" srcId="{5B3E5EAA-98DD-45E3-BBEC-B111BA472E94}" destId="{0284D55B-345C-4883-8D2D-0819CAD0DB44}" srcOrd="0" destOrd="0" parTransId="{BC6CB485-F430-44FD-BB9A-AB91A65C4CC8}" sibTransId="{2D9C9823-D710-4A82-9CCA-DEEA47AC65E0}"/>
    <dgm:cxn modelId="{5F2D10DD-24E9-4044-917D-B0631CD56134}" srcId="{5B3E5EAA-98DD-45E3-BBEC-B111BA472E94}" destId="{126F55C6-CD35-4907-AA3B-2B6C5F8327B3}" srcOrd="1" destOrd="0" parTransId="{FB1A097E-1C0E-4738-B56F-78E77E149B4B}" sibTransId="{40278D06-1DA3-46F6-A609-155C50C85BFC}"/>
    <dgm:cxn modelId="{8C802BED-ED50-4E28-B766-E0E0733D3DBE}" type="presOf" srcId="{AE2F09F3-CC10-41A2-B430-F2773A0130A8}" destId="{882D9155-5FD0-4B2A-AC22-C0BDB8627B78}" srcOrd="0" destOrd="0" presId="urn:microsoft.com/office/officeart/2005/8/layout/chevron1"/>
    <dgm:cxn modelId="{EFAB07F6-9C81-41B4-998B-04F49A4A44E5}" type="presOf" srcId="{298F61E4-4F50-4C7D-ADDE-AD118B7A21C6}" destId="{5C07CE11-5DD4-4507-9D3E-DA3A00441BEF}" srcOrd="0" destOrd="0" presId="urn:microsoft.com/office/officeart/2005/8/layout/chevron1"/>
    <dgm:cxn modelId="{EF673729-B0E3-4DA9-8D8E-252560E68443}" type="presParOf" srcId="{20C98B03-F0C9-4899-A054-7179220846A8}" destId="{5E5F9CBC-F552-479C-B811-418135C19BE5}" srcOrd="0" destOrd="0" presId="urn:microsoft.com/office/officeart/2005/8/layout/chevron1"/>
    <dgm:cxn modelId="{BF3F16D5-F243-42D7-B07C-75D626DB49A2}" type="presParOf" srcId="{20C98B03-F0C9-4899-A054-7179220846A8}" destId="{0D03CA80-F218-40B0-8A84-FA3CB3317C83}" srcOrd="1" destOrd="0" presId="urn:microsoft.com/office/officeart/2005/8/layout/chevron1"/>
    <dgm:cxn modelId="{16DCEC2D-71B2-4839-983D-017B67F744D8}" type="presParOf" srcId="{20C98B03-F0C9-4899-A054-7179220846A8}" destId="{36F4E5C5-3E13-4B0F-B367-E369A0732161}" srcOrd="2" destOrd="0" presId="urn:microsoft.com/office/officeart/2005/8/layout/chevron1"/>
    <dgm:cxn modelId="{B992C626-84A8-4C21-8807-7E425CF2A509}" type="presParOf" srcId="{20C98B03-F0C9-4899-A054-7179220846A8}" destId="{61BC77DA-0156-434C-A67F-39D834168D5C}" srcOrd="3" destOrd="0" presId="urn:microsoft.com/office/officeart/2005/8/layout/chevron1"/>
    <dgm:cxn modelId="{A50438CC-DA69-4091-8C19-04ED77316158}" type="presParOf" srcId="{20C98B03-F0C9-4899-A054-7179220846A8}" destId="{5C07CE11-5DD4-4507-9D3E-DA3A00441BEF}" srcOrd="4" destOrd="0" presId="urn:microsoft.com/office/officeart/2005/8/layout/chevron1"/>
    <dgm:cxn modelId="{6A80CB46-9AC1-452F-8B55-C180D8A704F4}" type="presParOf" srcId="{20C98B03-F0C9-4899-A054-7179220846A8}" destId="{2A013208-9CF4-4498-94D8-3D27A5F9902D}" srcOrd="5" destOrd="0" presId="urn:microsoft.com/office/officeart/2005/8/layout/chevron1"/>
    <dgm:cxn modelId="{5E8284C8-EFBD-4E68-BA3B-96969C31C050}" type="presParOf" srcId="{20C98B03-F0C9-4899-A054-7179220846A8}" destId="{882D9155-5FD0-4B2A-AC22-C0BDB8627B78}" srcOrd="6" destOrd="0" presId="urn:microsoft.com/office/officeart/2005/8/layout/chevron1"/>
    <dgm:cxn modelId="{BAB4CD60-ED39-4DB3-B7B3-D6D57ACAA9FB}" type="presParOf" srcId="{20C98B03-F0C9-4899-A054-7179220846A8}" destId="{7ACA29EE-9E59-4845-A77D-F0D8D17B51C5}" srcOrd="7" destOrd="0" presId="urn:microsoft.com/office/officeart/2005/8/layout/chevron1"/>
    <dgm:cxn modelId="{ADDBBE0A-CC90-4202-87F1-62E83C2C3EB6}" type="presParOf" srcId="{20C98B03-F0C9-4899-A054-7179220846A8}" destId="{E74E1176-460E-43C9-8DE4-E22906F268EB}" srcOrd="8" destOrd="0" presId="urn:microsoft.com/office/officeart/2005/8/layout/chevron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E5F9CBC-F552-479C-B811-418135C19BE5}">
      <dsp:nvSpPr>
        <dsp:cNvPr id="0" name=""/>
        <dsp:cNvSpPr/>
      </dsp:nvSpPr>
      <dsp:spPr>
        <a:xfrm>
          <a:off x="2620" y="84517"/>
          <a:ext cx="2640955" cy="1229409"/>
        </a:xfrm>
        <a:prstGeom prst="chevron">
          <a:avLst/>
        </a:prstGeom>
        <a:solidFill>
          <a:schemeClr val="tx2">
            <a:lumMod val="75000"/>
            <a:lumOff val="2500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6007" tIns="18669" rIns="18669" bIns="18669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AR" sz="1400" b="1" i="0" kern="1200" noProof="0" dirty="0">
              <a:solidFill>
                <a:srgbClr val="FFFFFF"/>
              </a:solidFill>
              <a:latin typeface="Calibri"/>
            </a:rPr>
            <a:t>Carga del </a:t>
          </a:r>
          <a:r>
            <a:rPr lang="es-AR" sz="1400" b="1" i="0" kern="1200" noProof="0" dirty="0" err="1">
              <a:solidFill>
                <a:srgbClr val="FFFFFF"/>
              </a:solidFill>
              <a:latin typeface="Calibri"/>
            </a:rPr>
            <a:t>Dataset</a:t>
          </a:r>
          <a:endParaRPr lang="es-AR" sz="1400" kern="1200" dirty="0"/>
        </a:p>
      </dsp:txBody>
      <dsp:txXfrm>
        <a:off x="617325" y="84517"/>
        <a:ext cx="1411546" cy="1229409"/>
      </dsp:txXfrm>
    </dsp:sp>
    <dsp:sp modelId="{36F4E5C5-3E13-4B0F-B367-E369A0732161}">
      <dsp:nvSpPr>
        <dsp:cNvPr id="0" name=""/>
        <dsp:cNvSpPr/>
      </dsp:nvSpPr>
      <dsp:spPr>
        <a:xfrm>
          <a:off x="2409608" y="65951"/>
          <a:ext cx="2663990" cy="1229409"/>
        </a:xfrm>
        <a:prstGeom prst="chevron">
          <a:avLst/>
        </a:prstGeom>
        <a:solidFill>
          <a:srgbClr val="FF0000"/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6007" tIns="18669" rIns="18669" bIns="18669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AR" sz="1400" b="1" i="0" kern="1200" noProof="0" dirty="0">
              <a:solidFill>
                <a:srgbClr val="FFFFFF"/>
              </a:solidFill>
              <a:latin typeface="Calibri"/>
            </a:rPr>
            <a:t>Renombramiento</a:t>
          </a:r>
          <a:endParaRPr lang="es-AR" sz="1400" kern="1200" dirty="0"/>
        </a:p>
      </dsp:txBody>
      <dsp:txXfrm>
        <a:off x="3024313" y="65951"/>
        <a:ext cx="1434581" cy="1229409"/>
      </dsp:txXfrm>
    </dsp:sp>
    <dsp:sp modelId="{5C07CE11-5DD4-4507-9D3E-DA3A00441BEF}">
      <dsp:nvSpPr>
        <dsp:cNvPr id="0" name=""/>
        <dsp:cNvSpPr/>
      </dsp:nvSpPr>
      <dsp:spPr>
        <a:xfrm>
          <a:off x="4814837" y="71095"/>
          <a:ext cx="2463646" cy="1229409"/>
        </a:xfrm>
        <a:prstGeom prst="chevron">
          <a:avLst/>
        </a:prstGeom>
        <a:solidFill>
          <a:schemeClr val="bg2">
            <a:lumMod val="2500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6007" tIns="18669" rIns="18669" bIns="18669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AR" sz="1400" b="1" i="0" kern="1200" noProof="0" dirty="0">
              <a:solidFill>
                <a:srgbClr val="FFFFFF"/>
              </a:solidFill>
              <a:latin typeface="Calibri"/>
            </a:rPr>
            <a:t>Limpieza</a:t>
          </a:r>
          <a:endParaRPr lang="es-AR" sz="1400" kern="1200" dirty="0"/>
        </a:p>
      </dsp:txBody>
      <dsp:txXfrm>
        <a:off x="5429542" y="71095"/>
        <a:ext cx="1234237" cy="1229409"/>
      </dsp:txXfrm>
    </dsp:sp>
    <dsp:sp modelId="{882D9155-5FD0-4B2A-AC22-C0BDB8627B78}">
      <dsp:nvSpPr>
        <dsp:cNvPr id="0" name=""/>
        <dsp:cNvSpPr/>
      </dsp:nvSpPr>
      <dsp:spPr>
        <a:xfrm>
          <a:off x="7032119" y="71095"/>
          <a:ext cx="2718437" cy="1229409"/>
        </a:xfrm>
        <a:prstGeom prst="chevron">
          <a:avLst/>
        </a:prstGeom>
        <a:solidFill>
          <a:schemeClr val="accent3"/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6007" tIns="18669" rIns="18669" bIns="18669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AR" sz="1400" b="1" i="0" kern="1200" noProof="0" dirty="0">
              <a:solidFill>
                <a:srgbClr val="FFFFFF"/>
              </a:solidFill>
              <a:latin typeface="Calibri"/>
            </a:rPr>
            <a:t>Variable Objetivo</a:t>
          </a:r>
          <a:endParaRPr lang="es-AR" sz="1400" kern="1200" dirty="0"/>
        </a:p>
      </dsp:txBody>
      <dsp:txXfrm>
        <a:off x="7646824" y="71095"/>
        <a:ext cx="1489028" cy="1229409"/>
      </dsp:txXfrm>
    </dsp:sp>
    <dsp:sp modelId="{E74E1176-460E-43C9-8DE4-E22906F268EB}">
      <dsp:nvSpPr>
        <dsp:cNvPr id="0" name=""/>
        <dsp:cNvSpPr/>
      </dsp:nvSpPr>
      <dsp:spPr>
        <a:xfrm>
          <a:off x="9504192" y="71095"/>
          <a:ext cx="2463646" cy="1229409"/>
        </a:xfrm>
        <a:prstGeom prst="chevron">
          <a:avLst/>
        </a:prstGeom>
        <a:solidFill>
          <a:schemeClr val="accent5">
            <a:lumMod val="7500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6007" tIns="18669" rIns="18669" bIns="18669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AR" sz="1400" b="1" i="0" kern="1200" noProof="0" dirty="0" err="1">
              <a:solidFill>
                <a:srgbClr val="FFFFFF"/>
              </a:solidFill>
              <a:latin typeface="Calibri"/>
            </a:rPr>
            <a:t>Outliers</a:t>
          </a:r>
          <a:endParaRPr lang="es-AR" sz="1400" kern="1200" dirty="0"/>
        </a:p>
      </dsp:txBody>
      <dsp:txXfrm>
        <a:off x="10118897" y="71095"/>
        <a:ext cx="1234237" cy="1229409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chevron1">
  <dgm:title val=""/>
  <dgm:desc val=""/>
  <dgm:catLst>
    <dgm:cat type="process" pri="9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hoose name="Name4">
      <dgm:if name="Name5" axis="des" func="maxDepth" op="gte" val="2">
        <dgm:constrLst>
          <dgm:constr type="h" for="ch" forName="composite" refType="h"/>
          <dgm:constr type="w" for="ch" forName="composite" refType="w"/>
          <dgm:constr type="w" for="des" forName="parTx"/>
          <dgm:constr type="h" for="des" forName="parTx" op="equ"/>
          <dgm:constr type="w" for="des" forName="desTx"/>
          <dgm:constr type="h" for="des" forName="desTx" op="equ"/>
          <dgm:constr type="primFontSz" for="des" forName="parTx" val="65"/>
          <dgm:constr type="secFontSz" for="des" forName="desTx" refType="primFontSz" refFor="des" refForName="parTx" op="equ"/>
          <dgm:constr type="h" for="des" forName="parTx" refType="primFontSz" refFor="des" refForName="parTx" fact="1.5"/>
          <dgm:constr type="h" for="des" forName="desTx" refType="primFontSz" refFor="des" refForName="parTx" fact="0.5"/>
          <dgm:constr type="w" for="ch" forName="space" op="equ" val="-6"/>
        </dgm:constrLst>
        <dgm:ruleLst>
          <dgm:rule type="w" for="ch" forName="composite" val="0" fact="NaN" max="NaN"/>
          <dgm:rule type="primFontSz" for="des" forName="parTx" val="5" fact="NaN" max="NaN"/>
        </dgm:ruleLst>
        <dgm:forEach name="Name6" axis="ch" ptType="node"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hoose name="Name7">
              <dgm:if name="Name8" func="var" arg="dir" op="equ" val="norm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if>
              <dgm:else name="Name9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 refType="w" fact="0.2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else>
            </dgm:choose>
            <dgm:ruleLst>
              <dgm:rule type="h" val="INF" fact="NaN" max="NaN"/>
            </dgm:ruleLst>
            <dgm:layoutNode name="parTx">
              <dgm:varLst>
                <dgm:chMax val="0"/>
                <dgm:chPref val="0"/>
                <dgm:bulletEnabled val="1"/>
              </dgm:varLst>
              <dgm:alg type="tx"/>
              <dgm:choose name="Name10">
                <dgm:if name="Name11" func="var" arg="dir" op="equ" val="norm">
                  <dgm:shape xmlns:r="http://schemas.openxmlformats.org/officeDocument/2006/relationships" type="chevron" r:blip="">
                    <dgm:adjLst/>
                  </dgm:shape>
                </dgm:if>
                <dgm:else name="Name12">
                  <dgm:shape xmlns:r="http://schemas.openxmlformats.org/officeDocument/2006/relationships" rot="180" type="chevron" r:blip="">
                    <dgm:adjLst/>
                  </dgm:shape>
                </dgm:else>
              </dgm:choose>
              <dgm:presOf axis="self" ptType="node"/>
              <dgm:choose name="Name13">
                <dgm:if name="Name14" func="var" arg="dir" op="equ" val="norm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315"/>
                    <dgm:constr type="rMarg" refType="primFontSz" fact="0.105"/>
                  </dgm:constrLst>
                </dgm:if>
                <dgm:else name="Name15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105"/>
                    <dgm:constr type="rMarg" refType="primFontSz" fact="0.315"/>
                  </dgm:constrLst>
                </dgm:else>
              </dgm:choose>
              <dgm:ruleLst>
                <dgm:rule type="h" val="INF" fact="NaN" max="NaN"/>
              </dgm:ruleLst>
            </dgm:layoutNode>
            <dgm:layoutNode name="desTx" styleLbl="revTx">
              <dgm:varLst>
                <dgm:bulletEnabled val="1"/>
              </dgm:varLst>
              <dgm:alg type="tx">
                <dgm:param type="stBulletLvl" val="1"/>
              </dgm:alg>
              <dgm:choose name="Name16">
                <dgm:if name="Name17" axis="ch" ptType="node" func="cnt" op="gte" val="1">
                  <dgm:shape xmlns:r="http://schemas.openxmlformats.org/officeDocument/2006/relationships" type="rect" r:blip="">
                    <dgm:adjLst/>
                  </dgm:shape>
                </dgm:if>
                <dgm:else name="Name18">
                  <dgm:shape xmlns:r="http://schemas.openxmlformats.org/officeDocument/2006/relationships" type="rect" r:blip="" hideGeom="1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h"/>
                <dgm:constr type="tMarg"/>
                <dgm:constr type="bMarg"/>
                <dgm:constr type="rMarg"/>
                <dgm:constr type="lMarg"/>
              </dgm:constrLst>
              <dgm:ruleLst>
                <dgm:rule type="h" val="INF" fact="NaN" max="NaN"/>
              </dgm:ruleLst>
            </dgm:layoutNode>
          </dgm:layoutNode>
          <dgm:forEach name="Name19" axis="followSib" ptType="sibTrans" cnt="1">
            <dgm:layoutNode name="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if>
      <dgm:else name="Name20">
        <dgm:constrLst>
          <dgm:constr type="w" for="ch" forName="parTxOnly" refType="w"/>
          <dgm:constr type="h" for="des" forName="parTxOnly" op="equ"/>
          <dgm:constr type="primFontSz" for="des" forName="parTxOnly" op="equ" val="65"/>
          <dgm:constr type="w" for="ch" forName="parTxOnlySpace" refType="w" refFor="ch" refForName="parTxOnly" fact="-0.1"/>
        </dgm:constrLst>
        <dgm:ruleLst/>
        <dgm:forEach name="Name21" axis="ch" ptType="node">
          <dgm:layoutNode name="parTxOnly">
            <dgm:varLst>
              <dgm:chMax val="0"/>
              <dgm:chPref val="0"/>
              <dgm:bulletEnabled val="1"/>
            </dgm:varLst>
            <dgm:alg type="tx"/>
            <dgm:choose name="Name22">
              <dgm:if name="Name23" func="var" arg="dir" op="equ" val="norm">
                <dgm:shape xmlns:r="http://schemas.openxmlformats.org/officeDocument/2006/relationships" type="chevron" r:blip="">
                  <dgm:adjLst/>
                </dgm:shape>
              </dgm:if>
              <dgm:else name="Name24">
                <dgm:shape xmlns:r="http://schemas.openxmlformats.org/officeDocument/2006/relationships" rot="180" type="chevron" r:blip="">
                  <dgm:adjLst/>
                </dgm:shape>
              </dgm:else>
            </dgm:choose>
            <dgm:presOf axis="self" ptType="node"/>
            <dgm:choose name="Name25">
              <dgm:if name="Name26" func="var" arg="dir" op="equ" val="norm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315"/>
                  <dgm:constr type="rMarg" refType="primFontSz" fact="0.105"/>
                </dgm:constrLst>
              </dgm:if>
              <dgm:else name="Name27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105"/>
                  <dgm:constr type="rMarg" refType="primFontSz" fact="0.315"/>
                </dgm:constrLst>
              </dgm:else>
            </dgm:choose>
            <dgm:ruleLst>
              <dgm:rule type="primFontSz" val="5" fact="NaN" max="NaN"/>
            </dgm:ruleLst>
          </dgm:layoutNode>
          <dgm:forEach name="Name28" axis="followSib" ptType="sibTrans" cnt="1">
            <dgm:layoutNode name="parTxOnly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else>
    </dgm:choose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5/24/2026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3" Type="http://schemas.openxmlformats.org/officeDocument/2006/relationships/image" Target="../media/image7.png"/><Relationship Id="rId7" Type="http://schemas.openxmlformats.org/officeDocument/2006/relationships/image" Target="../media/image11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6.pn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 noProof="0" dirty="0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4114800" cy="6858000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 noProof="0" dirty="0"/>
          </a:p>
        </p:txBody>
      </p:sp>
      <p:sp>
        <p:nvSpPr>
          <p:cNvPr id="4" name="Rectangle 3"/>
          <p:cNvSpPr/>
          <p:nvPr/>
        </p:nvSpPr>
        <p:spPr>
          <a:xfrm>
            <a:off x="4114800" y="0"/>
            <a:ext cx="54864" cy="6858000"/>
          </a:xfrm>
          <a:prstGeom prst="rect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 noProof="0" dirty="0"/>
          </a:p>
        </p:txBody>
      </p:sp>
      <p:sp>
        <p:nvSpPr>
          <p:cNvPr id="5" name="TextBox 4"/>
          <p:cNvSpPr txBox="1"/>
          <p:nvPr/>
        </p:nvSpPr>
        <p:spPr>
          <a:xfrm>
            <a:off x="4572000" y="1670489"/>
            <a:ext cx="73152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AR" sz="1400" noProof="0" dirty="0">
                <a:solidFill>
                  <a:srgbClr val="02C39A"/>
                </a:solidFill>
                <a:latin typeface="Calibri"/>
              </a:rPr>
              <a:t>PROYECTO</a:t>
            </a:r>
            <a:r>
              <a:rPr lang="es-AR" sz="1400" b="0" i="0" noProof="0" dirty="0">
                <a:solidFill>
                  <a:srgbClr val="02C39A"/>
                </a:solidFill>
                <a:latin typeface="Calibri"/>
              </a:rPr>
              <a:t> </a:t>
            </a:r>
            <a:r>
              <a:rPr lang="es-AR" sz="1400" noProof="0" dirty="0">
                <a:solidFill>
                  <a:srgbClr val="02C39A"/>
                </a:solidFill>
                <a:latin typeface="Calibri"/>
              </a:rPr>
              <a:t>FINAL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0" y="2127689"/>
            <a:ext cx="73152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s-AR" sz="3200" b="1" i="0" noProof="0" dirty="0">
                <a:solidFill>
                  <a:srgbClr val="FFFFFF"/>
                </a:solidFill>
                <a:latin typeface="Calibri"/>
              </a:rPr>
              <a:t>Machine </a:t>
            </a:r>
            <a:r>
              <a:rPr lang="es-AR" sz="3200" b="1" i="0" noProof="0" dirty="0" err="1">
                <a:solidFill>
                  <a:srgbClr val="FFFFFF"/>
                </a:solidFill>
                <a:latin typeface="Calibri"/>
              </a:rPr>
              <a:t>Learning</a:t>
            </a:r>
            <a:r>
              <a:rPr lang="es-AR" sz="3200" b="1" i="0" noProof="0" dirty="0">
                <a:solidFill>
                  <a:srgbClr val="FFFFFF"/>
                </a:solidFill>
                <a:latin typeface="Calibri"/>
              </a:rPr>
              <a:t>
aplicado 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0" y="3224969"/>
            <a:ext cx="73152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s-AR" sz="4200" b="1" i="0" noProof="0" dirty="0">
                <a:solidFill>
                  <a:srgbClr val="02C39A"/>
                </a:solidFill>
                <a:latin typeface="Calibri"/>
              </a:rPr>
              <a:t>Mantenimiento
Predictivo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0" y="4733729"/>
            <a:ext cx="4572000" cy="45720"/>
          </a:xfrm>
          <a:prstGeom prst="rect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 noProof="0" dirty="0"/>
          </a:p>
        </p:txBody>
      </p:sp>
      <p:sp>
        <p:nvSpPr>
          <p:cNvPr id="9" name="TextBox 8"/>
          <p:cNvSpPr txBox="1"/>
          <p:nvPr/>
        </p:nvSpPr>
        <p:spPr>
          <a:xfrm>
            <a:off x="4572000" y="4870889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s-AR" sz="1400" b="0" i="0" noProof="0" dirty="0">
                <a:solidFill>
                  <a:srgbClr val="B0D0E8"/>
                </a:solidFill>
                <a:latin typeface="Calibri"/>
              </a:rPr>
              <a:t>NASA </a:t>
            </a:r>
            <a:r>
              <a:rPr lang="es-AR" sz="1400" b="0" i="0" noProof="0" dirty="0" err="1">
                <a:solidFill>
                  <a:srgbClr val="B0D0E8"/>
                </a:solidFill>
                <a:latin typeface="Calibri"/>
              </a:rPr>
              <a:t>Turbofan</a:t>
            </a:r>
            <a:r>
              <a:rPr lang="es-AR" sz="1400" b="0" i="0" noProof="0" dirty="0">
                <a:solidFill>
                  <a:srgbClr val="B0D0E8"/>
                </a:solidFill>
                <a:latin typeface="Calibri"/>
              </a:rPr>
              <a:t> Jet </a:t>
            </a:r>
            <a:r>
              <a:rPr lang="es-AR" sz="1400" b="0" i="0" noProof="0" dirty="0" err="1">
                <a:solidFill>
                  <a:srgbClr val="B0D0E8"/>
                </a:solidFill>
                <a:latin typeface="Calibri"/>
              </a:rPr>
              <a:t>Engine</a:t>
            </a:r>
            <a:r>
              <a:rPr lang="es-AR" sz="1400" b="0" i="0" noProof="0" dirty="0">
                <a:solidFill>
                  <a:srgbClr val="B0D0E8"/>
                </a:solidFill>
                <a:latin typeface="Calibri"/>
              </a:rPr>
              <a:t> </a:t>
            </a:r>
            <a:r>
              <a:rPr lang="es-AR" sz="1400" b="0" i="0" noProof="0" dirty="0" err="1">
                <a:solidFill>
                  <a:srgbClr val="B0D0E8"/>
                </a:solidFill>
                <a:latin typeface="Calibri"/>
              </a:rPr>
              <a:t>Dataset</a:t>
            </a:r>
            <a:endParaRPr lang="es-AR" sz="1400" b="0" i="0" noProof="0" dirty="0">
              <a:solidFill>
                <a:srgbClr val="B0D0E8"/>
              </a:solidFill>
              <a:latin typeface="Calibri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4572000" y="5282369"/>
            <a:ext cx="713232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s-AR" sz="1200" b="0" i="1" noProof="0" dirty="0">
                <a:solidFill>
                  <a:srgbClr val="64748B"/>
                </a:solidFill>
                <a:latin typeface="Calibri"/>
              </a:rPr>
              <a:t>Estimación de Vida Útil Restante con Regresión, Random Forest y </a:t>
            </a:r>
            <a:r>
              <a:rPr lang="es-AR" sz="1200" b="0" i="1" noProof="0" dirty="0" err="1">
                <a:solidFill>
                  <a:srgbClr val="64748B"/>
                </a:solidFill>
                <a:latin typeface="Calibri"/>
              </a:rPr>
              <a:t>XGBoost</a:t>
            </a:r>
            <a:endParaRPr lang="es-AR" sz="1200" b="0" i="1" noProof="0" dirty="0">
              <a:solidFill>
                <a:srgbClr val="64748B"/>
              </a:solidFill>
              <a:latin typeface="Calibri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274320" y="2300748"/>
            <a:ext cx="3474720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AR" sz="4000" b="1" i="0" noProof="0" dirty="0">
                <a:solidFill>
                  <a:srgbClr val="1C7293"/>
                </a:solidFill>
                <a:latin typeface="Calibri"/>
              </a:rPr>
              <a:t>DATA
</a:t>
            </a:r>
            <a:r>
              <a:rPr lang="es-AR" sz="4000" b="1" noProof="0" dirty="0">
                <a:solidFill>
                  <a:srgbClr val="1C7293"/>
                </a:solidFill>
                <a:latin typeface="Calibri"/>
              </a:rPr>
              <a:t>SCIENCE II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82880" y="3852282"/>
            <a:ext cx="3657600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AR" sz="2000" b="0" i="1" noProof="0" dirty="0">
                <a:solidFill>
                  <a:schemeClr val="bg1"/>
                </a:solidFill>
                <a:latin typeface="Calibri"/>
              </a:rPr>
              <a:t>Diego Adolfo Godoy</a:t>
            </a:r>
          </a:p>
          <a:p>
            <a:pPr algn="ctr"/>
            <a:r>
              <a:rPr lang="es-AR" sz="1400" i="1" noProof="0" dirty="0">
                <a:solidFill>
                  <a:srgbClr val="6080A0"/>
                </a:solidFill>
                <a:latin typeface="Calibri"/>
              </a:rPr>
              <a:t>Comisión 86415</a:t>
            </a:r>
          </a:p>
          <a:p>
            <a:pPr algn="ctr"/>
            <a:endParaRPr lang="es-AR" sz="1000" b="0" i="1" noProof="0" dirty="0">
              <a:solidFill>
                <a:srgbClr val="6080A0"/>
              </a:solidFill>
              <a:latin typeface="Calibri"/>
            </a:endParaRPr>
          </a:p>
        </p:txBody>
      </p:sp>
      <p:pic>
        <p:nvPicPr>
          <p:cNvPr id="14" name="Imagen 13">
            <a:extLst>
              <a:ext uri="{FF2B5EF4-FFF2-40B4-BE49-F238E27FC236}">
                <a16:creationId xmlns:a16="http://schemas.microsoft.com/office/drawing/2014/main" id="{B713016D-EB85-0EF6-27C6-E6104E196C3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41994" y="155588"/>
            <a:ext cx="3755529" cy="3755529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0F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 noProof="0" dirty="0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 noProof="0" dirty="0"/>
          </a:p>
        </p:txBody>
      </p:sp>
      <p:sp>
        <p:nvSpPr>
          <p:cNvPr id="4" name="Rectangle 3"/>
          <p:cNvSpPr/>
          <p:nvPr/>
        </p:nvSpPr>
        <p:spPr>
          <a:xfrm>
            <a:off x="0" y="1005840"/>
            <a:ext cx="12188952" cy="45720"/>
          </a:xfrm>
          <a:prstGeom prst="rect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 noProof="0" dirty="0"/>
          </a:p>
        </p:txBody>
      </p:sp>
      <p:sp>
        <p:nvSpPr>
          <p:cNvPr id="5" name="TextBox 4"/>
          <p:cNvSpPr txBox="1"/>
          <p:nvPr/>
        </p:nvSpPr>
        <p:spPr>
          <a:xfrm>
            <a:off x="365760" y="13716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s-AR" sz="2800" b="1" i="0" noProof="0" dirty="0">
                <a:solidFill>
                  <a:srgbClr val="FFFFFF"/>
                </a:solidFill>
                <a:latin typeface="Calibri"/>
              </a:rPr>
              <a:t>Contexto del Negocio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73152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s-AR" sz="1300" b="0" i="1" noProof="0" dirty="0">
                <a:solidFill>
                  <a:srgbClr val="B0D0E8"/>
                </a:solidFill>
                <a:latin typeface="Calibri"/>
              </a:rPr>
              <a:t>El problema detrás del proyecto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1280160"/>
            <a:ext cx="3383280" cy="4114800"/>
          </a:xfrm>
          <a:prstGeom prst="rect">
            <a:avLst/>
          </a:prstGeom>
          <a:solidFill>
            <a:srgbClr val="FFFFFF"/>
          </a:solidFill>
          <a:ln w="12700">
            <a:solidFill>
              <a:srgbClr val="CCDD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 noProof="0" dirty="0"/>
          </a:p>
        </p:txBody>
      </p:sp>
      <p:sp>
        <p:nvSpPr>
          <p:cNvPr id="9" name="TextBox 8"/>
          <p:cNvSpPr txBox="1"/>
          <p:nvPr/>
        </p:nvSpPr>
        <p:spPr>
          <a:xfrm>
            <a:off x="502920" y="2917214"/>
            <a:ext cx="310896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AR" b="1" noProof="0" dirty="0">
                <a:solidFill>
                  <a:srgbClr val="065A82"/>
                </a:solidFill>
                <a:latin typeface="Calibri"/>
              </a:rPr>
              <a:t>Mantenimiento
Correctivo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3781118"/>
            <a:ext cx="310896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s-AR" b="0" i="0" noProof="0" dirty="0">
                <a:solidFill>
                  <a:srgbClr val="1E293B"/>
                </a:solidFill>
                <a:latin typeface="Calibri"/>
              </a:rPr>
              <a:t>Fallas inesperadas generan
paradas no planificadas,
altos costos de reparación
y riesgo operativo.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160520" y="1280160"/>
            <a:ext cx="3383280" cy="4114800"/>
          </a:xfrm>
          <a:prstGeom prst="rect">
            <a:avLst/>
          </a:prstGeom>
          <a:solidFill>
            <a:srgbClr val="FFFFFF"/>
          </a:solidFill>
          <a:ln w="12700">
            <a:solidFill>
              <a:srgbClr val="CCDD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 noProof="0" dirty="0"/>
          </a:p>
        </p:txBody>
      </p:sp>
      <p:sp>
        <p:nvSpPr>
          <p:cNvPr id="13" name="TextBox 12"/>
          <p:cNvSpPr txBox="1"/>
          <p:nvPr/>
        </p:nvSpPr>
        <p:spPr>
          <a:xfrm>
            <a:off x="4297680" y="2917214"/>
            <a:ext cx="310896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AR" b="1" i="0" noProof="0" dirty="0">
                <a:solidFill>
                  <a:srgbClr val="065A82"/>
                </a:solidFill>
                <a:latin typeface="Calibri"/>
              </a:rPr>
              <a:t>Mantenimiento
Preventivo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297680" y="3781118"/>
            <a:ext cx="310896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s-AR" b="0" i="0" noProof="0" dirty="0">
                <a:solidFill>
                  <a:srgbClr val="1E293B"/>
                </a:solidFill>
                <a:latin typeface="Calibri"/>
              </a:rPr>
              <a:t>Intervenciones fijas sin
considerar el estado real
del equipo. Genera costos
innecesarios.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955280" y="1280160"/>
            <a:ext cx="3383280" cy="4114800"/>
          </a:xfrm>
          <a:prstGeom prst="rect">
            <a:avLst/>
          </a:prstGeom>
          <a:solidFill>
            <a:srgbClr val="E8F6F3"/>
          </a:solidFill>
          <a:ln w="12700">
            <a:solidFill>
              <a:srgbClr val="02C3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 noProof="0" dirty="0"/>
          </a:p>
        </p:txBody>
      </p:sp>
      <p:sp>
        <p:nvSpPr>
          <p:cNvPr id="16" name="Rectangle 15"/>
          <p:cNvSpPr/>
          <p:nvPr/>
        </p:nvSpPr>
        <p:spPr>
          <a:xfrm>
            <a:off x="7955280" y="1280160"/>
            <a:ext cx="3383280" cy="73152"/>
          </a:xfrm>
          <a:prstGeom prst="rect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 noProof="0" dirty="0"/>
          </a:p>
        </p:txBody>
      </p:sp>
      <p:sp>
        <p:nvSpPr>
          <p:cNvPr id="18" name="TextBox 17"/>
          <p:cNvSpPr txBox="1"/>
          <p:nvPr/>
        </p:nvSpPr>
        <p:spPr>
          <a:xfrm>
            <a:off x="8092440" y="2917214"/>
            <a:ext cx="310896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AR" b="1" i="0" noProof="0" dirty="0">
                <a:solidFill>
                  <a:srgbClr val="065A82"/>
                </a:solidFill>
                <a:latin typeface="Calibri"/>
              </a:rPr>
              <a:t>Mantenimiento
Predictivo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092440" y="3781118"/>
            <a:ext cx="310896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s-AR" b="0" i="0" noProof="0" dirty="0">
                <a:solidFill>
                  <a:srgbClr val="1E293B"/>
                </a:solidFill>
                <a:latin typeface="Calibri"/>
              </a:rPr>
              <a:t>Anticipa fallas usando
datos históricos y sensores
en tiempo real. Reduce
costos y mejora eficiencia</a:t>
            </a:r>
            <a:r>
              <a:rPr lang="es-AR" sz="1200" b="0" i="0" noProof="0" dirty="0">
                <a:solidFill>
                  <a:srgbClr val="1E293B"/>
                </a:solidFill>
                <a:latin typeface="Calibri"/>
              </a:rPr>
              <a:t>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2365" y="6191992"/>
            <a:ext cx="9610753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AR" sz="1600" b="1" noProof="0" dirty="0">
                <a:solidFill>
                  <a:srgbClr val="1C7293"/>
                </a:solidFill>
                <a:latin typeface="Calibri"/>
              </a:rPr>
              <a:t>El mantenimiento predictivo reduce hasta un 30% los costos operativos y elimina paradas no planificadas.</a:t>
            </a:r>
          </a:p>
        </p:txBody>
      </p:sp>
      <p:pic>
        <p:nvPicPr>
          <p:cNvPr id="22" name="Imagen 21">
            <a:extLst>
              <a:ext uri="{FF2B5EF4-FFF2-40B4-BE49-F238E27FC236}">
                <a16:creationId xmlns:a16="http://schemas.microsoft.com/office/drawing/2014/main" id="{04137359-9126-293D-9467-7B0D86E4674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83015" y="1438398"/>
            <a:ext cx="1440000" cy="1440000"/>
          </a:xfrm>
          <a:prstGeom prst="rect">
            <a:avLst/>
          </a:prstGeom>
        </p:spPr>
      </p:pic>
      <p:pic>
        <p:nvPicPr>
          <p:cNvPr id="26" name="Imagen 25">
            <a:extLst>
              <a:ext uri="{FF2B5EF4-FFF2-40B4-BE49-F238E27FC236}">
                <a16:creationId xmlns:a16="http://schemas.microsoft.com/office/drawing/2014/main" id="{D304E17F-858A-992E-E401-A3B5436841B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32160" y="1438398"/>
            <a:ext cx="1440000" cy="1440000"/>
          </a:xfrm>
          <a:prstGeom prst="rect">
            <a:avLst/>
          </a:prstGeom>
        </p:spPr>
      </p:pic>
      <p:pic>
        <p:nvPicPr>
          <p:cNvPr id="28" name="Imagen 27">
            <a:extLst>
              <a:ext uri="{FF2B5EF4-FFF2-40B4-BE49-F238E27FC236}">
                <a16:creationId xmlns:a16="http://schemas.microsoft.com/office/drawing/2014/main" id="{863E2B51-CCAD-43A5-E796-39D31E5CF26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75143" y="1438398"/>
            <a:ext cx="1440000" cy="1440000"/>
          </a:xfrm>
          <a:prstGeom prst="rect">
            <a:avLst/>
          </a:prstGeom>
        </p:spPr>
      </p:pic>
      <p:pic>
        <p:nvPicPr>
          <p:cNvPr id="1026" name="Picture 2" descr="Icono Lámpara bombilla">
            <a:extLst>
              <a:ext uri="{FF2B5EF4-FFF2-40B4-BE49-F238E27FC236}">
                <a16:creationId xmlns:a16="http://schemas.microsoft.com/office/drawing/2014/main" id="{523C2C37-7BE7-E723-EB41-91D8A5871CE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2397" y="6105986"/>
            <a:ext cx="451856" cy="4518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0F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 noProof="0" dirty="0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 noProof="0" dirty="0"/>
          </a:p>
        </p:txBody>
      </p:sp>
      <p:sp>
        <p:nvSpPr>
          <p:cNvPr id="4" name="Rectangle 3"/>
          <p:cNvSpPr/>
          <p:nvPr/>
        </p:nvSpPr>
        <p:spPr>
          <a:xfrm>
            <a:off x="0" y="1005840"/>
            <a:ext cx="12188952" cy="45720"/>
          </a:xfrm>
          <a:prstGeom prst="rect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 noProof="0" dirty="0"/>
          </a:p>
        </p:txBody>
      </p:sp>
      <p:sp>
        <p:nvSpPr>
          <p:cNvPr id="5" name="TextBox 4"/>
          <p:cNvSpPr txBox="1"/>
          <p:nvPr/>
        </p:nvSpPr>
        <p:spPr>
          <a:xfrm>
            <a:off x="365760" y="13716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s-AR" sz="2800" b="1" i="0" noProof="0" dirty="0">
                <a:solidFill>
                  <a:srgbClr val="FFFFFF"/>
                </a:solidFill>
                <a:latin typeface="Calibri"/>
              </a:rPr>
              <a:t>Objetivo del Proyecto y </a:t>
            </a:r>
            <a:r>
              <a:rPr lang="es-AR" sz="2800" b="1" i="0" noProof="0" dirty="0" err="1">
                <a:solidFill>
                  <a:srgbClr val="FFFFFF"/>
                </a:solidFill>
                <a:latin typeface="Calibri"/>
              </a:rPr>
              <a:t>Dataset</a:t>
            </a:r>
            <a:endParaRPr lang="es-AR" sz="2800" b="1" i="0" noProof="0" dirty="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365760" y="73152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s-AR" sz="1300" b="0" i="1" noProof="0" dirty="0">
                <a:solidFill>
                  <a:srgbClr val="B0D0E8"/>
                </a:solidFill>
                <a:latin typeface="Calibri"/>
              </a:rPr>
              <a:t>NASA </a:t>
            </a:r>
            <a:r>
              <a:rPr lang="es-AR" sz="1300" b="0" i="1" noProof="0" dirty="0" err="1">
                <a:solidFill>
                  <a:srgbClr val="B0D0E8"/>
                </a:solidFill>
                <a:latin typeface="Calibri"/>
              </a:rPr>
              <a:t>Turbofan</a:t>
            </a:r>
            <a:r>
              <a:rPr lang="es-AR" sz="1300" b="0" i="1" noProof="0" dirty="0">
                <a:solidFill>
                  <a:srgbClr val="B0D0E8"/>
                </a:solidFill>
                <a:latin typeface="Calibri"/>
              </a:rPr>
              <a:t> Jet </a:t>
            </a:r>
            <a:r>
              <a:rPr lang="es-AR" sz="1300" b="0" i="1" noProof="0" dirty="0" err="1">
                <a:solidFill>
                  <a:srgbClr val="B0D0E8"/>
                </a:solidFill>
                <a:latin typeface="Calibri"/>
              </a:rPr>
              <a:t>Engine</a:t>
            </a:r>
            <a:r>
              <a:rPr lang="es-AR" sz="1300" b="0" i="1" noProof="0" dirty="0">
                <a:solidFill>
                  <a:srgbClr val="B0D0E8"/>
                </a:solidFill>
                <a:latin typeface="Calibri"/>
              </a:rPr>
              <a:t> Data Set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1234440"/>
            <a:ext cx="5486400" cy="4480560"/>
          </a:xfrm>
          <a:prstGeom prst="rect">
            <a:avLst/>
          </a:prstGeom>
          <a:solidFill>
            <a:srgbClr val="FFFFFF"/>
          </a:solidFill>
          <a:ln w="12700">
            <a:solidFill>
              <a:srgbClr val="CCDD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 noProof="0" dirty="0"/>
          </a:p>
        </p:txBody>
      </p:sp>
      <p:sp>
        <p:nvSpPr>
          <p:cNvPr id="8" name="Rectangle 7"/>
          <p:cNvSpPr/>
          <p:nvPr/>
        </p:nvSpPr>
        <p:spPr>
          <a:xfrm>
            <a:off x="365760" y="1234440"/>
            <a:ext cx="5486400" cy="73152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 noProof="0" dirty="0"/>
          </a:p>
        </p:txBody>
      </p:sp>
      <p:sp>
        <p:nvSpPr>
          <p:cNvPr id="9" name="TextBox 8"/>
          <p:cNvSpPr txBox="1"/>
          <p:nvPr/>
        </p:nvSpPr>
        <p:spPr>
          <a:xfrm>
            <a:off x="1026317" y="1371600"/>
            <a:ext cx="50292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s-AR" sz="1500" b="1" i="0" noProof="0" dirty="0">
                <a:solidFill>
                  <a:srgbClr val="065A82"/>
                </a:solidFill>
                <a:latin typeface="Calibri"/>
              </a:rPr>
              <a:t> </a:t>
            </a:r>
            <a:r>
              <a:rPr lang="es-AR" sz="1600" b="1" i="0" noProof="0" dirty="0">
                <a:solidFill>
                  <a:srgbClr val="065A82"/>
                </a:solidFill>
                <a:latin typeface="Calibri"/>
              </a:rPr>
              <a:t>Objetivo General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1828800"/>
            <a:ext cx="5120640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s-AR" sz="1600" b="0" i="0" noProof="0" dirty="0">
                <a:solidFill>
                  <a:srgbClr val="1E293B"/>
                </a:solidFill>
                <a:latin typeface="Calibri"/>
              </a:rPr>
              <a:t>Desarrollar un modelo que permita estimar la Vida Útil
Restante de motores </a:t>
            </a:r>
            <a:r>
              <a:rPr lang="es-AR" sz="1600" b="0" i="0" noProof="0" dirty="0" err="1">
                <a:solidFill>
                  <a:srgbClr val="1E293B"/>
                </a:solidFill>
                <a:latin typeface="Calibri"/>
              </a:rPr>
              <a:t>turbofan</a:t>
            </a:r>
            <a:r>
              <a:rPr lang="es-AR" sz="1600" b="0" i="0" noProof="0" dirty="0">
                <a:solidFill>
                  <a:srgbClr val="1E293B"/>
                </a:solidFill>
                <a:latin typeface="Calibri"/>
              </a:rPr>
              <a:t> a partir de datos
de sensores, anticipar fallas y optimizar la toma de
decisiones en mantenimiento.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324612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s-AR" sz="1300" b="1" i="0" noProof="0" dirty="0">
                <a:solidFill>
                  <a:srgbClr val="1C7293"/>
                </a:solidFill>
                <a:latin typeface="Calibri"/>
              </a:rPr>
              <a:t>Objetivos Específicos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3657600"/>
            <a:ext cx="201168" cy="201168"/>
          </a:xfrm>
          <a:prstGeom prst="rect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 noProof="0" dirty="0"/>
          </a:p>
        </p:txBody>
      </p:sp>
      <p:sp>
        <p:nvSpPr>
          <p:cNvPr id="13" name="TextBox 12"/>
          <p:cNvSpPr txBox="1"/>
          <p:nvPr/>
        </p:nvSpPr>
        <p:spPr>
          <a:xfrm>
            <a:off x="822960" y="3639312"/>
            <a:ext cx="4663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s-AR" sz="1100" b="0" i="0" noProof="0" dirty="0">
                <a:solidFill>
                  <a:srgbClr val="1E293B"/>
                </a:solidFill>
                <a:latin typeface="Calibri"/>
              </a:rPr>
              <a:t>Analizar comportamiento de sensores a lo largo del tiempo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8640" y="4041648"/>
            <a:ext cx="201168" cy="201168"/>
          </a:xfrm>
          <a:prstGeom prst="rect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 noProof="0" dirty="0"/>
          </a:p>
        </p:txBody>
      </p:sp>
      <p:sp>
        <p:nvSpPr>
          <p:cNvPr id="15" name="TextBox 14"/>
          <p:cNvSpPr txBox="1"/>
          <p:nvPr/>
        </p:nvSpPr>
        <p:spPr>
          <a:xfrm>
            <a:off x="822960" y="4023360"/>
            <a:ext cx="4663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s-AR" sz="1100" b="0" i="0" noProof="0" dirty="0">
                <a:solidFill>
                  <a:srgbClr val="1E293B"/>
                </a:solidFill>
                <a:latin typeface="Calibri"/>
              </a:rPr>
              <a:t>Detectar patrones de degradación en los motores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48640" y="4425696"/>
            <a:ext cx="201168" cy="201168"/>
          </a:xfrm>
          <a:prstGeom prst="rect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 noProof="0" dirty="0"/>
          </a:p>
        </p:txBody>
      </p:sp>
      <p:sp>
        <p:nvSpPr>
          <p:cNvPr id="17" name="TextBox 16"/>
          <p:cNvSpPr txBox="1"/>
          <p:nvPr/>
        </p:nvSpPr>
        <p:spPr>
          <a:xfrm>
            <a:off x="822960" y="4407408"/>
            <a:ext cx="4663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s-AR" sz="1100" b="0" i="0" noProof="0" dirty="0">
                <a:solidFill>
                  <a:srgbClr val="1E293B"/>
                </a:solidFill>
                <a:latin typeface="Calibri"/>
              </a:rPr>
              <a:t>Identificar variables relevantes para la predicción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48640" y="4809744"/>
            <a:ext cx="201168" cy="201168"/>
          </a:xfrm>
          <a:prstGeom prst="rect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 noProof="0" dirty="0"/>
          </a:p>
        </p:txBody>
      </p:sp>
      <p:sp>
        <p:nvSpPr>
          <p:cNvPr id="19" name="TextBox 18"/>
          <p:cNvSpPr txBox="1"/>
          <p:nvPr/>
        </p:nvSpPr>
        <p:spPr>
          <a:xfrm>
            <a:off x="822960" y="4791456"/>
            <a:ext cx="4663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s-AR" sz="1100" b="0" i="0" noProof="0" dirty="0">
                <a:solidFill>
                  <a:srgbClr val="1E293B"/>
                </a:solidFill>
                <a:latin typeface="Calibri"/>
              </a:rPr>
              <a:t>Construir variable objetivo: Vida Útil Restante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48640" y="5193792"/>
            <a:ext cx="201168" cy="201168"/>
          </a:xfrm>
          <a:prstGeom prst="rect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 noProof="0" dirty="0"/>
          </a:p>
        </p:txBody>
      </p:sp>
      <p:sp>
        <p:nvSpPr>
          <p:cNvPr id="21" name="TextBox 20"/>
          <p:cNvSpPr txBox="1"/>
          <p:nvPr/>
        </p:nvSpPr>
        <p:spPr>
          <a:xfrm>
            <a:off x="822960" y="5175504"/>
            <a:ext cx="4663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s-AR" sz="1100" b="0" i="0" noProof="0" dirty="0">
                <a:solidFill>
                  <a:srgbClr val="1E293B"/>
                </a:solidFill>
                <a:latin typeface="Calibri"/>
              </a:rPr>
              <a:t>Preparar datos y entrenar modelos de ML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17920" y="1234440"/>
            <a:ext cx="5577840" cy="4480560"/>
          </a:xfrm>
          <a:prstGeom prst="rect">
            <a:avLst/>
          </a:prstGeom>
          <a:solidFill>
            <a:srgbClr val="065A82"/>
          </a:solidFill>
          <a:ln w="12700">
            <a:solidFill>
              <a:srgbClr val="1C729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 noProof="0" dirty="0"/>
          </a:p>
        </p:txBody>
      </p:sp>
      <p:sp>
        <p:nvSpPr>
          <p:cNvPr id="23" name="TextBox 22"/>
          <p:cNvSpPr txBox="1"/>
          <p:nvPr/>
        </p:nvSpPr>
        <p:spPr>
          <a:xfrm>
            <a:off x="6892121" y="1371600"/>
            <a:ext cx="50292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s-AR" sz="1600" b="1" i="0" noProof="0" dirty="0" err="1">
                <a:solidFill>
                  <a:srgbClr val="FFFFFF"/>
                </a:solidFill>
                <a:latin typeface="Calibri"/>
              </a:rPr>
              <a:t>Dataset</a:t>
            </a:r>
            <a:endParaRPr lang="es-AR" sz="1600" b="1" i="0" noProof="0" dirty="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6400800" y="1828800"/>
            <a:ext cx="5303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s-AR" sz="1800" b="1" i="0" noProof="0" dirty="0">
                <a:solidFill>
                  <a:srgbClr val="02C39A"/>
                </a:solidFill>
                <a:latin typeface="Calibri"/>
              </a:rPr>
              <a:t>NASA </a:t>
            </a:r>
            <a:r>
              <a:rPr lang="es-AR" sz="1800" b="1" i="0" noProof="0" dirty="0" err="1">
                <a:solidFill>
                  <a:srgbClr val="02C39A"/>
                </a:solidFill>
                <a:latin typeface="Calibri"/>
              </a:rPr>
              <a:t>Turbofan</a:t>
            </a:r>
            <a:r>
              <a:rPr lang="es-AR" sz="1800" b="1" i="0" noProof="0" dirty="0">
                <a:solidFill>
                  <a:srgbClr val="02C39A"/>
                </a:solidFill>
                <a:latin typeface="Calibri"/>
              </a:rPr>
              <a:t> Jet </a:t>
            </a:r>
            <a:r>
              <a:rPr lang="es-AR" sz="1800" b="1" i="0" noProof="0" dirty="0" err="1">
                <a:solidFill>
                  <a:srgbClr val="02C39A"/>
                </a:solidFill>
                <a:latin typeface="Calibri"/>
              </a:rPr>
              <a:t>Engine</a:t>
            </a:r>
            <a:r>
              <a:rPr lang="es-AR" sz="1800" b="1" i="0" noProof="0" dirty="0">
                <a:solidFill>
                  <a:srgbClr val="02C39A"/>
                </a:solidFill>
                <a:latin typeface="Calibri"/>
              </a:rPr>
              <a:t>
Data Set (FD001)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400800" y="2697480"/>
            <a:ext cx="2377440" cy="1051560"/>
          </a:xfrm>
          <a:prstGeom prst="rect">
            <a:avLst/>
          </a:prstGeom>
          <a:solidFill>
            <a:srgbClr val="1C7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 noProof="0" dirty="0"/>
          </a:p>
        </p:txBody>
      </p:sp>
      <p:sp>
        <p:nvSpPr>
          <p:cNvPr id="26" name="TextBox 25"/>
          <p:cNvSpPr txBox="1"/>
          <p:nvPr/>
        </p:nvSpPr>
        <p:spPr>
          <a:xfrm>
            <a:off x="6492240" y="2743200"/>
            <a:ext cx="21945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AR" sz="2800" b="1" i="0" noProof="0" dirty="0">
                <a:solidFill>
                  <a:srgbClr val="02C39A"/>
                </a:solidFill>
                <a:latin typeface="Calibri"/>
              </a:rPr>
              <a:t>20.631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92240" y="333756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AR" sz="1000" b="0" i="0" noProof="0" dirty="0">
                <a:solidFill>
                  <a:srgbClr val="FFFFFF"/>
                </a:solidFill>
                <a:latin typeface="Calibri"/>
              </a:rPr>
              <a:t>Registros totales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9144000" y="2697480"/>
            <a:ext cx="2377440" cy="1051560"/>
          </a:xfrm>
          <a:prstGeom prst="rect">
            <a:avLst/>
          </a:prstGeom>
          <a:solidFill>
            <a:srgbClr val="1C7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 noProof="0" dirty="0"/>
          </a:p>
        </p:txBody>
      </p:sp>
      <p:sp>
        <p:nvSpPr>
          <p:cNvPr id="29" name="TextBox 28"/>
          <p:cNvSpPr txBox="1"/>
          <p:nvPr/>
        </p:nvSpPr>
        <p:spPr>
          <a:xfrm>
            <a:off x="9235440" y="2743200"/>
            <a:ext cx="21945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AR" sz="2800" b="1" i="0" noProof="0" dirty="0">
                <a:solidFill>
                  <a:srgbClr val="02C39A"/>
                </a:solidFill>
                <a:latin typeface="Calibri"/>
              </a:rPr>
              <a:t>100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235440" y="333756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AR" sz="1000" b="0" i="0" noProof="0" dirty="0">
                <a:solidFill>
                  <a:srgbClr val="FFFFFF"/>
                </a:solidFill>
                <a:latin typeface="Calibri"/>
              </a:rPr>
              <a:t>Motores simulados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400800" y="3931920"/>
            <a:ext cx="2377440" cy="1051560"/>
          </a:xfrm>
          <a:prstGeom prst="rect">
            <a:avLst/>
          </a:prstGeom>
          <a:solidFill>
            <a:srgbClr val="1C7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 noProof="0" dirty="0"/>
          </a:p>
        </p:txBody>
      </p:sp>
      <p:sp>
        <p:nvSpPr>
          <p:cNvPr id="32" name="TextBox 31"/>
          <p:cNvSpPr txBox="1"/>
          <p:nvPr/>
        </p:nvSpPr>
        <p:spPr>
          <a:xfrm>
            <a:off x="6492240" y="3977640"/>
            <a:ext cx="21945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AR" sz="2800" b="1" i="0" noProof="0" dirty="0">
                <a:solidFill>
                  <a:srgbClr val="02C39A"/>
                </a:solidFill>
                <a:latin typeface="Calibri"/>
              </a:rPr>
              <a:t>21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92240" y="457200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AR" sz="1000" b="0" i="0" noProof="0" dirty="0">
                <a:solidFill>
                  <a:srgbClr val="FFFFFF"/>
                </a:solidFill>
                <a:latin typeface="Calibri"/>
              </a:rPr>
              <a:t>Sensores por motor</a:t>
            </a:r>
          </a:p>
        </p:txBody>
      </p:sp>
      <p:sp>
        <p:nvSpPr>
          <p:cNvPr id="34" name="Rectangle 33"/>
          <p:cNvSpPr/>
          <p:nvPr/>
        </p:nvSpPr>
        <p:spPr>
          <a:xfrm>
            <a:off x="9144000" y="3931920"/>
            <a:ext cx="2377440" cy="1051560"/>
          </a:xfrm>
          <a:prstGeom prst="rect">
            <a:avLst/>
          </a:prstGeom>
          <a:solidFill>
            <a:srgbClr val="1C7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 noProof="0" dirty="0"/>
          </a:p>
        </p:txBody>
      </p:sp>
      <p:sp>
        <p:nvSpPr>
          <p:cNvPr id="35" name="TextBox 34"/>
          <p:cNvSpPr txBox="1"/>
          <p:nvPr/>
        </p:nvSpPr>
        <p:spPr>
          <a:xfrm>
            <a:off x="9235440" y="3977640"/>
            <a:ext cx="21945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AR" sz="2800" b="1" i="0" noProof="0" dirty="0">
                <a:solidFill>
                  <a:srgbClr val="02C39A"/>
                </a:solidFill>
                <a:latin typeface="Calibri"/>
              </a:rPr>
              <a:t>3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235440" y="457200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AR" sz="1000" b="0" i="0" noProof="0" dirty="0">
                <a:solidFill>
                  <a:srgbClr val="FFFFFF"/>
                </a:solidFill>
                <a:latin typeface="Calibri"/>
              </a:rPr>
              <a:t>Configuraciones operativas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400800" y="5394960"/>
            <a:ext cx="5303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s-AR" sz="1000" b="0" i="1" noProof="0" dirty="0">
                <a:solidFill>
                  <a:srgbClr val="B0D0E8"/>
                </a:solidFill>
                <a:latin typeface="Calibri"/>
              </a:rPr>
              <a:t>Fuente: </a:t>
            </a:r>
            <a:r>
              <a:rPr lang="es-AR" sz="1000" b="0" i="1" noProof="0" dirty="0" err="1">
                <a:solidFill>
                  <a:srgbClr val="B0D0E8"/>
                </a:solidFill>
                <a:latin typeface="Calibri"/>
              </a:rPr>
              <a:t>Kaggle</a:t>
            </a:r>
            <a:r>
              <a:rPr lang="es-AR" sz="1000" b="0" i="1" noProof="0" dirty="0">
                <a:solidFill>
                  <a:srgbClr val="B0D0E8"/>
                </a:solidFill>
                <a:latin typeface="Calibri"/>
              </a:rPr>
              <a:t> / NASA CMAPS · Tipo: Regresión continua</a:t>
            </a:r>
          </a:p>
        </p:txBody>
      </p:sp>
      <p:pic>
        <p:nvPicPr>
          <p:cNvPr id="2050" name="Picture 2" descr="Icono Objetivo dardos dart">
            <a:extLst>
              <a:ext uri="{FF2B5EF4-FFF2-40B4-BE49-F238E27FC236}">
                <a16:creationId xmlns:a16="http://schemas.microsoft.com/office/drawing/2014/main" id="{665B5F11-A415-D732-6134-1D79C0D3894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9066" y="1225097"/>
            <a:ext cx="539695" cy="53969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2" name="Picture 4" descr="Icono Base de datos busqueda">
            <a:extLst>
              <a:ext uri="{FF2B5EF4-FFF2-40B4-BE49-F238E27FC236}">
                <a16:creationId xmlns:a16="http://schemas.microsoft.com/office/drawing/2014/main" id="{F5006DDA-7929-4854-20FF-4F8519173C2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00800" y="1307592"/>
            <a:ext cx="469668" cy="4696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4" name="Picture 6" descr="Icono Solicitar aceptar cheque bien">
            <a:extLst>
              <a:ext uri="{FF2B5EF4-FFF2-40B4-BE49-F238E27FC236}">
                <a16:creationId xmlns:a16="http://schemas.microsoft.com/office/drawing/2014/main" id="{08EF45E9-94BF-3285-3376-A855CF6D4E1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8504" y="3601942"/>
            <a:ext cx="339915" cy="33991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8" name="Picture 6" descr="Icono Solicitar aceptar cheque bien">
            <a:extLst>
              <a:ext uri="{FF2B5EF4-FFF2-40B4-BE49-F238E27FC236}">
                <a16:creationId xmlns:a16="http://schemas.microsoft.com/office/drawing/2014/main" id="{A48CA901-E1F8-A200-E684-AF9FED73881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0776" y="3972707"/>
            <a:ext cx="339915" cy="33991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9" name="Picture 6" descr="Icono Solicitar aceptar cheque bien">
            <a:extLst>
              <a:ext uri="{FF2B5EF4-FFF2-40B4-BE49-F238E27FC236}">
                <a16:creationId xmlns:a16="http://schemas.microsoft.com/office/drawing/2014/main" id="{17CAB923-568A-E96B-9576-9DC204C205E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6696" y="4357123"/>
            <a:ext cx="339915" cy="33991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0" name="Picture 6" descr="Icono Solicitar aceptar cheque bien">
            <a:extLst>
              <a:ext uri="{FF2B5EF4-FFF2-40B4-BE49-F238E27FC236}">
                <a16:creationId xmlns:a16="http://schemas.microsoft.com/office/drawing/2014/main" id="{3B25D93E-4260-AC05-66CC-11741196EEC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5321" y="4741537"/>
            <a:ext cx="339915" cy="33991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" name="Picture 6" descr="Icono Solicitar aceptar cheque bien">
            <a:extLst>
              <a:ext uri="{FF2B5EF4-FFF2-40B4-BE49-F238E27FC236}">
                <a16:creationId xmlns:a16="http://schemas.microsoft.com/office/drawing/2014/main" id="{1A807B7F-790B-11C2-CF7D-C823B69E63E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1241" y="5125952"/>
            <a:ext cx="339915" cy="33991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8" name="Picture 10" descr="Icono Motor">
            <a:extLst>
              <a:ext uri="{FF2B5EF4-FFF2-40B4-BE49-F238E27FC236}">
                <a16:creationId xmlns:a16="http://schemas.microsoft.com/office/drawing/2014/main" id="{DD30C3D2-11B9-A967-6300-21600D596BE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84944" y="2697477"/>
            <a:ext cx="540000" cy="54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60" name="Picture 12" descr="Icono Termometro">
            <a:extLst>
              <a:ext uri="{FF2B5EF4-FFF2-40B4-BE49-F238E27FC236}">
                <a16:creationId xmlns:a16="http://schemas.microsoft.com/office/drawing/2014/main" id="{A941FD50-EC2B-C146-6A6F-E71F670CD0E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96704" y="3979364"/>
            <a:ext cx="540000" cy="54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62" name="Picture 14" descr="Icono Arte interfaz multimedia opciones">
            <a:extLst>
              <a:ext uri="{FF2B5EF4-FFF2-40B4-BE49-F238E27FC236}">
                <a16:creationId xmlns:a16="http://schemas.microsoft.com/office/drawing/2014/main" id="{42554257-E2E1-C1C3-B3C0-82B8436192C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52598" y="3948774"/>
            <a:ext cx="540000" cy="54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64" name="Picture 16" descr="Icono Registro tarjeta de">
            <a:extLst>
              <a:ext uri="{FF2B5EF4-FFF2-40B4-BE49-F238E27FC236}">
                <a16:creationId xmlns:a16="http://schemas.microsoft.com/office/drawing/2014/main" id="{B45566DA-40FB-5291-E4A7-02C53C52376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00800" y="2716443"/>
            <a:ext cx="540000" cy="54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0F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 noProof="0" dirty="0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 noProof="0" dirty="0"/>
          </a:p>
        </p:txBody>
      </p:sp>
      <p:sp>
        <p:nvSpPr>
          <p:cNvPr id="4" name="Rectangle 3"/>
          <p:cNvSpPr/>
          <p:nvPr/>
        </p:nvSpPr>
        <p:spPr>
          <a:xfrm>
            <a:off x="0" y="1005840"/>
            <a:ext cx="12188952" cy="45720"/>
          </a:xfrm>
          <a:prstGeom prst="rect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 noProof="0" dirty="0"/>
          </a:p>
        </p:txBody>
      </p:sp>
      <p:sp>
        <p:nvSpPr>
          <p:cNvPr id="5" name="TextBox 4"/>
          <p:cNvSpPr txBox="1"/>
          <p:nvPr/>
        </p:nvSpPr>
        <p:spPr>
          <a:xfrm>
            <a:off x="365760" y="13716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s-AR" sz="2800" b="1" i="0" noProof="0" dirty="0">
                <a:solidFill>
                  <a:srgbClr val="FFFFFF"/>
                </a:solidFill>
                <a:latin typeface="Calibri"/>
              </a:rPr>
              <a:t>Data </a:t>
            </a:r>
            <a:r>
              <a:rPr lang="es-AR" sz="2800" b="1" i="0" noProof="0" dirty="0" err="1">
                <a:solidFill>
                  <a:srgbClr val="FFFFFF"/>
                </a:solidFill>
                <a:latin typeface="Calibri"/>
              </a:rPr>
              <a:t>Wrangling</a:t>
            </a:r>
            <a:r>
              <a:rPr lang="es-AR" sz="2800" b="1" i="0" noProof="0" dirty="0">
                <a:solidFill>
                  <a:srgbClr val="FFFFFF"/>
                </a:solidFill>
                <a:latin typeface="Calibri"/>
              </a:rPr>
              <a:t> e Ingeniería de Variables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73152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s-AR" sz="1300" b="0" i="1" noProof="0" dirty="0">
                <a:solidFill>
                  <a:srgbClr val="B0D0E8"/>
                </a:solidFill>
                <a:latin typeface="Calibri"/>
              </a:rPr>
              <a:t>Preparación y limpieza del </a:t>
            </a:r>
            <a:r>
              <a:rPr lang="es-AR" sz="1300" b="0" i="1" noProof="0" dirty="0" err="1">
                <a:solidFill>
                  <a:srgbClr val="B0D0E8"/>
                </a:solidFill>
                <a:latin typeface="Calibri"/>
              </a:rPr>
              <a:t>dataset</a:t>
            </a:r>
            <a:endParaRPr lang="es-AR" sz="1300" b="0" i="1" noProof="0" dirty="0">
              <a:solidFill>
                <a:srgbClr val="B0D0E8"/>
              </a:solidFill>
              <a:latin typeface="Calibri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238152" y="3104196"/>
            <a:ext cx="2148840" cy="2027375"/>
          </a:xfrm>
          <a:prstGeom prst="rect">
            <a:avLst/>
          </a:prstGeom>
          <a:solidFill>
            <a:srgbClr val="FFFFFF"/>
          </a:solidFill>
          <a:ln w="12700">
            <a:solidFill>
              <a:srgbClr val="CCDD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 noProof="0" dirty="0"/>
          </a:p>
        </p:txBody>
      </p:sp>
      <p:sp>
        <p:nvSpPr>
          <p:cNvPr id="11" name="TextBox 10"/>
          <p:cNvSpPr txBox="1"/>
          <p:nvPr/>
        </p:nvSpPr>
        <p:spPr>
          <a:xfrm>
            <a:off x="329591" y="3739500"/>
            <a:ext cx="196596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s-AR" sz="1100" b="0" i="0" noProof="0" dirty="0">
                <a:solidFill>
                  <a:srgbClr val="1E293B"/>
                </a:solidFill>
                <a:latin typeface="Calibri"/>
              </a:rPr>
              <a:t>Archivo .</a:t>
            </a:r>
            <a:r>
              <a:rPr lang="es-AR" sz="1100" b="0" i="0" noProof="0" dirty="0" err="1">
                <a:solidFill>
                  <a:srgbClr val="1E293B"/>
                </a:solidFill>
                <a:latin typeface="Calibri"/>
              </a:rPr>
              <a:t>txt</a:t>
            </a:r>
            <a:r>
              <a:rPr lang="es-AR" sz="1100" b="0" i="0" noProof="0" dirty="0">
                <a:solidFill>
                  <a:srgbClr val="1E293B"/>
                </a:solidFill>
                <a:latin typeface="Calibri"/>
              </a:rPr>
              <a:t> sin encabezados.
Separador: espacio múltiple (\s+).
20.631 registros, 28 columnas.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597168" y="3104196"/>
            <a:ext cx="2148840" cy="2027375"/>
          </a:xfrm>
          <a:prstGeom prst="rect">
            <a:avLst/>
          </a:prstGeom>
          <a:solidFill>
            <a:srgbClr val="FFFFFF"/>
          </a:solidFill>
          <a:ln w="12700">
            <a:solidFill>
              <a:srgbClr val="CCDD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 noProof="0" dirty="0"/>
          </a:p>
        </p:txBody>
      </p:sp>
      <p:sp>
        <p:nvSpPr>
          <p:cNvPr id="16" name="TextBox 15"/>
          <p:cNvSpPr txBox="1"/>
          <p:nvPr/>
        </p:nvSpPr>
        <p:spPr>
          <a:xfrm>
            <a:off x="2688608" y="3739500"/>
            <a:ext cx="196596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s-AR" sz="1100" b="0" i="0" noProof="0" dirty="0">
                <a:solidFill>
                  <a:srgbClr val="1E293B"/>
                </a:solidFill>
                <a:latin typeface="Calibri"/>
              </a:rPr>
              <a:t>Asignación manual de nombres:
</a:t>
            </a:r>
            <a:r>
              <a:rPr lang="es-AR" sz="1100" b="0" i="0" noProof="0" dirty="0" err="1">
                <a:solidFill>
                  <a:srgbClr val="1E293B"/>
                </a:solidFill>
                <a:latin typeface="Calibri"/>
              </a:rPr>
              <a:t>motor_id</a:t>
            </a:r>
            <a:r>
              <a:rPr lang="es-AR" sz="1100" b="0" i="0" noProof="0" dirty="0">
                <a:solidFill>
                  <a:srgbClr val="1E293B"/>
                </a:solidFill>
                <a:latin typeface="Calibri"/>
              </a:rPr>
              <a:t>, ciclo, </a:t>
            </a:r>
            <a:r>
              <a:rPr lang="es-AR" sz="1100" b="0" i="0" noProof="0" dirty="0" err="1">
                <a:solidFill>
                  <a:srgbClr val="1E293B"/>
                </a:solidFill>
                <a:latin typeface="Calibri"/>
              </a:rPr>
              <a:t>config</a:t>
            </a:r>
            <a:r>
              <a:rPr lang="es-AR" sz="1100" b="0" i="0" noProof="0" dirty="0">
                <a:solidFill>
                  <a:srgbClr val="1E293B"/>
                </a:solidFill>
                <a:latin typeface="Calibri"/>
              </a:rPr>
              <a:t>_(1-3),
sensor_(1-21).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942536" y="3104196"/>
            <a:ext cx="2148840" cy="2027375"/>
          </a:xfrm>
          <a:prstGeom prst="rect">
            <a:avLst/>
          </a:prstGeom>
          <a:solidFill>
            <a:srgbClr val="FFFFFF"/>
          </a:solidFill>
          <a:ln w="12700">
            <a:solidFill>
              <a:srgbClr val="CCDD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 noProof="0" dirty="0"/>
          </a:p>
        </p:txBody>
      </p:sp>
      <p:sp>
        <p:nvSpPr>
          <p:cNvPr id="21" name="TextBox 20"/>
          <p:cNvSpPr txBox="1"/>
          <p:nvPr/>
        </p:nvSpPr>
        <p:spPr>
          <a:xfrm>
            <a:off x="5033976" y="3739500"/>
            <a:ext cx="196596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s-AR" sz="1100" b="0" i="0" noProof="0" dirty="0">
                <a:solidFill>
                  <a:srgbClr val="1E293B"/>
                </a:solidFill>
                <a:latin typeface="Calibri"/>
              </a:rPr>
              <a:t>Eliminación de columnas vacías
y sin variabilidad (constantes).
Sin valores nulos detectados.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246960" y="3104196"/>
            <a:ext cx="2148840" cy="2027375"/>
          </a:xfrm>
          <a:prstGeom prst="rect">
            <a:avLst/>
          </a:prstGeom>
          <a:solidFill>
            <a:srgbClr val="FFFFFF"/>
          </a:solidFill>
          <a:ln w="12700">
            <a:solidFill>
              <a:srgbClr val="CCDD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 noProof="0" dirty="0"/>
          </a:p>
        </p:txBody>
      </p:sp>
      <p:sp>
        <p:nvSpPr>
          <p:cNvPr id="26" name="TextBox 25"/>
          <p:cNvSpPr txBox="1"/>
          <p:nvPr/>
        </p:nvSpPr>
        <p:spPr>
          <a:xfrm>
            <a:off x="7338400" y="3739500"/>
            <a:ext cx="196596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s-AR" sz="1100" b="0" i="0" noProof="0" dirty="0">
                <a:solidFill>
                  <a:srgbClr val="1E293B"/>
                </a:solidFill>
                <a:latin typeface="Calibri"/>
              </a:rPr>
              <a:t>Vida Útil = </a:t>
            </a:r>
            <a:r>
              <a:rPr lang="es-AR" sz="1100" b="0" i="0" noProof="0" dirty="0" err="1">
                <a:solidFill>
                  <a:srgbClr val="1E293B"/>
                </a:solidFill>
                <a:latin typeface="Calibri"/>
              </a:rPr>
              <a:t>ciclo_max</a:t>
            </a:r>
            <a:r>
              <a:rPr lang="es-AR" sz="1100" b="0" i="0" noProof="0" dirty="0">
                <a:solidFill>
                  <a:srgbClr val="1E293B"/>
                </a:solidFill>
                <a:latin typeface="Calibri"/>
              </a:rPr>
              <a:t> − ciclo.
Se calcula por motor como la
diferencia al último ciclo.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9633272" y="3104196"/>
            <a:ext cx="2148840" cy="2027375"/>
          </a:xfrm>
          <a:prstGeom prst="rect">
            <a:avLst/>
          </a:prstGeom>
          <a:solidFill>
            <a:srgbClr val="FFFFFF"/>
          </a:solidFill>
          <a:ln w="12700">
            <a:solidFill>
              <a:srgbClr val="CCDD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 noProof="0" dirty="0"/>
          </a:p>
        </p:txBody>
      </p:sp>
      <p:sp>
        <p:nvSpPr>
          <p:cNvPr id="31" name="TextBox 30"/>
          <p:cNvSpPr txBox="1"/>
          <p:nvPr/>
        </p:nvSpPr>
        <p:spPr>
          <a:xfrm>
            <a:off x="9724712" y="3739500"/>
            <a:ext cx="196596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s-AR" sz="1100" b="0" i="0" noProof="0" dirty="0">
                <a:solidFill>
                  <a:srgbClr val="1E293B"/>
                </a:solidFill>
                <a:latin typeface="Calibri"/>
              </a:rPr>
              <a:t>No se eliminan masivamente.
Representan condiciones reales
de desgaste del motor.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20040" y="5577840"/>
            <a:ext cx="11521440" cy="594360"/>
          </a:xfrm>
          <a:prstGeom prst="rect">
            <a:avLst/>
          </a:prstGeom>
          <a:solidFill>
            <a:srgbClr val="1C7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 noProof="0" dirty="0"/>
          </a:p>
        </p:txBody>
      </p:sp>
      <p:sp>
        <p:nvSpPr>
          <p:cNvPr id="33" name="TextBox 32"/>
          <p:cNvSpPr txBox="1"/>
          <p:nvPr/>
        </p:nvSpPr>
        <p:spPr>
          <a:xfrm>
            <a:off x="548640" y="5710224"/>
            <a:ext cx="109728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AR" sz="1400" b="1" i="0" noProof="0" dirty="0" err="1">
                <a:solidFill>
                  <a:srgbClr val="FFFFFF"/>
                </a:solidFill>
                <a:latin typeface="Calibri"/>
              </a:rPr>
              <a:t>Vida_util</a:t>
            </a:r>
            <a:r>
              <a:rPr lang="es-AR" sz="1400" b="1" i="0" noProof="0" dirty="0">
                <a:solidFill>
                  <a:srgbClr val="FFFFFF"/>
                </a:solidFill>
                <a:latin typeface="Calibri"/>
              </a:rPr>
              <a:t>  =  </a:t>
            </a:r>
            <a:r>
              <a:rPr lang="es-AR" sz="1400" b="1" i="0" noProof="0" dirty="0" err="1">
                <a:solidFill>
                  <a:srgbClr val="FFFFFF"/>
                </a:solidFill>
                <a:latin typeface="Calibri"/>
              </a:rPr>
              <a:t>ciclo_max</a:t>
            </a:r>
            <a:r>
              <a:rPr lang="es-AR" sz="1400" b="1" i="0" noProof="0" dirty="0">
                <a:solidFill>
                  <a:srgbClr val="FFFFFF"/>
                </a:solidFill>
                <a:latin typeface="Calibri"/>
              </a:rPr>
              <a:t>  −  </a:t>
            </a:r>
            <a:r>
              <a:rPr lang="es-AR" sz="1400" b="1" i="0" noProof="0" dirty="0" err="1">
                <a:solidFill>
                  <a:srgbClr val="FFFFFF"/>
                </a:solidFill>
                <a:latin typeface="Calibri"/>
              </a:rPr>
              <a:t>ciclo_actual</a:t>
            </a:r>
            <a:r>
              <a:rPr lang="es-AR" sz="1400" b="1" i="0" noProof="0" dirty="0">
                <a:solidFill>
                  <a:srgbClr val="FFFFFF"/>
                </a:solidFill>
                <a:latin typeface="Calibri"/>
              </a:rPr>
              <a:t>      →      Variable objetivo de regresión continua</a:t>
            </a:r>
          </a:p>
        </p:txBody>
      </p:sp>
      <p:pic>
        <p:nvPicPr>
          <p:cNvPr id="7170" name="Picture 2" descr="Icono Tiempo de vida reloj corazón">
            <a:extLst>
              <a:ext uri="{FF2B5EF4-FFF2-40B4-BE49-F238E27FC236}">
                <a16:creationId xmlns:a16="http://schemas.microsoft.com/office/drawing/2014/main" id="{535586F9-4B47-2EC3-EF97-EE9A89C1A1B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38172" y="5684248"/>
            <a:ext cx="371636" cy="3716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aphicFrame>
        <p:nvGraphicFramePr>
          <p:cNvPr id="34" name="Diagrama 33">
            <a:extLst>
              <a:ext uri="{FF2B5EF4-FFF2-40B4-BE49-F238E27FC236}">
                <a16:creationId xmlns:a16="http://schemas.microsoft.com/office/drawing/2014/main" id="{2B815AF3-9341-D2B3-09FA-1FBA840EC18F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951147496"/>
              </p:ext>
            </p:extLst>
          </p:nvPr>
        </p:nvGraphicFramePr>
        <p:xfrm>
          <a:off x="218365" y="1847910"/>
          <a:ext cx="11970460" cy="13716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582761" y="1916838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s-AR" sz="2200" b="1" i="0" noProof="0" dirty="0">
                <a:solidFill>
                  <a:srgbClr val="02C39A"/>
                </a:solidFill>
                <a:latin typeface="Calibri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943278" y="1862383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s-AR" sz="2200" b="1" i="0" noProof="0" dirty="0">
                <a:solidFill>
                  <a:srgbClr val="02C39A"/>
                </a:solidFill>
                <a:latin typeface="Calibri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274998" y="1862383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s-AR" sz="2200" b="1" i="0" noProof="0" dirty="0">
                <a:solidFill>
                  <a:srgbClr val="02C39A"/>
                </a:solidFill>
                <a:latin typeface="Calibri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524830" y="1862383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s-AR" sz="2200" b="1" i="0" noProof="0" dirty="0">
                <a:solidFill>
                  <a:srgbClr val="02C39A"/>
                </a:solidFill>
                <a:latin typeface="Calibri"/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993030" y="1862383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s-AR" sz="2200" b="1" i="0" noProof="0" dirty="0">
                <a:solidFill>
                  <a:srgbClr val="02C39A"/>
                </a:solidFill>
                <a:latin typeface="Calibri"/>
              </a:rPr>
              <a:t>5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0F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 noProof="0" dirty="0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 noProof="0" dirty="0"/>
          </a:p>
        </p:txBody>
      </p:sp>
      <p:sp>
        <p:nvSpPr>
          <p:cNvPr id="4" name="Rectangle 3"/>
          <p:cNvSpPr/>
          <p:nvPr/>
        </p:nvSpPr>
        <p:spPr>
          <a:xfrm>
            <a:off x="0" y="1005840"/>
            <a:ext cx="12188952" cy="45720"/>
          </a:xfrm>
          <a:prstGeom prst="rect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 noProof="0" dirty="0"/>
          </a:p>
        </p:txBody>
      </p:sp>
      <p:sp>
        <p:nvSpPr>
          <p:cNvPr id="5" name="TextBox 4"/>
          <p:cNvSpPr txBox="1"/>
          <p:nvPr/>
        </p:nvSpPr>
        <p:spPr>
          <a:xfrm>
            <a:off x="365760" y="13716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s-AR" sz="2800" b="1" i="0" noProof="0" dirty="0">
                <a:solidFill>
                  <a:srgbClr val="FFFFFF"/>
                </a:solidFill>
                <a:latin typeface="Calibri"/>
              </a:rPr>
              <a:t>Análisis Exploratorio — Hallazgos Clave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73152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s-AR" sz="1300" b="0" i="1" noProof="0" dirty="0">
                <a:solidFill>
                  <a:srgbClr val="B0D0E8"/>
                </a:solidFill>
                <a:latin typeface="Calibri"/>
              </a:rPr>
              <a:t>Patrones de degradación en sensores</a:t>
            </a:r>
          </a:p>
        </p:txBody>
      </p:sp>
      <p:sp>
        <p:nvSpPr>
          <p:cNvPr id="7" name="Rectangle 6"/>
          <p:cNvSpPr/>
          <p:nvPr/>
        </p:nvSpPr>
        <p:spPr>
          <a:xfrm>
            <a:off x="320040" y="1280160"/>
            <a:ext cx="2743200" cy="2926080"/>
          </a:xfrm>
          <a:prstGeom prst="rect">
            <a:avLst/>
          </a:prstGeom>
          <a:solidFill>
            <a:srgbClr val="FFFFFF"/>
          </a:solidFill>
          <a:ln w="12700">
            <a:solidFill>
              <a:srgbClr val="CCDD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 noProof="0" dirty="0"/>
          </a:p>
        </p:txBody>
      </p:sp>
      <p:sp>
        <p:nvSpPr>
          <p:cNvPr id="8" name="Rectangle 7"/>
          <p:cNvSpPr/>
          <p:nvPr/>
        </p:nvSpPr>
        <p:spPr>
          <a:xfrm>
            <a:off x="320040" y="1280160"/>
            <a:ext cx="2743200" cy="64008"/>
          </a:xfrm>
          <a:prstGeom prst="rect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 noProof="0" dirty="0"/>
          </a:p>
        </p:txBody>
      </p:sp>
      <p:sp>
        <p:nvSpPr>
          <p:cNvPr id="9" name="TextBox 8"/>
          <p:cNvSpPr txBox="1"/>
          <p:nvPr/>
        </p:nvSpPr>
        <p:spPr>
          <a:xfrm>
            <a:off x="457200" y="1463039"/>
            <a:ext cx="7315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s-AR" sz="2600" b="0" i="0" noProof="0" dirty="0">
                <a:latin typeface="Calibri"/>
              </a:rPr>
              <a:t>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2148839"/>
            <a:ext cx="2468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s-AR" sz="1400" b="1" i="0" noProof="0" dirty="0">
                <a:solidFill>
                  <a:srgbClr val="065A82"/>
                </a:solidFill>
                <a:latin typeface="Calibri"/>
              </a:rPr>
              <a:t>Degradación Progresiva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2651760"/>
            <a:ext cx="24688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s-AR" sz="1150" b="0" i="0" noProof="0" dirty="0">
                <a:solidFill>
                  <a:srgbClr val="1E293B"/>
                </a:solidFill>
                <a:latin typeface="Calibri"/>
              </a:rPr>
              <a:t>La vida útil disminuye de forma
consistente a medida que
aumenta el número de ciclos.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383280" y="1280160"/>
            <a:ext cx="2743200" cy="2926080"/>
          </a:xfrm>
          <a:prstGeom prst="rect">
            <a:avLst/>
          </a:prstGeom>
          <a:solidFill>
            <a:srgbClr val="FFFFFF"/>
          </a:solidFill>
          <a:ln w="12700">
            <a:solidFill>
              <a:srgbClr val="CCDD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 noProof="0" dirty="0"/>
          </a:p>
        </p:txBody>
      </p:sp>
      <p:sp>
        <p:nvSpPr>
          <p:cNvPr id="13" name="Rectangle 12"/>
          <p:cNvSpPr/>
          <p:nvPr/>
        </p:nvSpPr>
        <p:spPr>
          <a:xfrm>
            <a:off x="3383280" y="1280160"/>
            <a:ext cx="2743200" cy="64008"/>
          </a:xfrm>
          <a:prstGeom prst="rect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 noProof="0" dirty="0"/>
          </a:p>
        </p:txBody>
      </p:sp>
      <p:sp>
        <p:nvSpPr>
          <p:cNvPr id="14" name="TextBox 13"/>
          <p:cNvSpPr txBox="1"/>
          <p:nvPr/>
        </p:nvSpPr>
        <p:spPr>
          <a:xfrm>
            <a:off x="3520440" y="1463039"/>
            <a:ext cx="7315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s-AR" sz="2600" b="0" i="0" noProof="0" dirty="0">
                <a:latin typeface="Calibri"/>
              </a:rPr>
              <a:t>📡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520440" y="2148839"/>
            <a:ext cx="2468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s-AR" sz="1400" b="1" i="0" noProof="0" dirty="0">
                <a:solidFill>
                  <a:srgbClr val="065A82"/>
                </a:solidFill>
                <a:latin typeface="Calibri"/>
              </a:rPr>
              <a:t>Sensores Predictivos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20440" y="2651760"/>
            <a:ext cx="24688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s-AR" sz="1150" b="0" i="0" noProof="0" dirty="0">
                <a:solidFill>
                  <a:srgbClr val="1E293B"/>
                </a:solidFill>
                <a:latin typeface="Calibri"/>
              </a:rPr>
              <a:t>Sensores específicos muestran
variaciones sistemáticas previas
a la falla del motor.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446520" y="1280160"/>
            <a:ext cx="2743200" cy="2926080"/>
          </a:xfrm>
          <a:prstGeom prst="rect">
            <a:avLst/>
          </a:prstGeom>
          <a:solidFill>
            <a:srgbClr val="FFFFFF"/>
          </a:solidFill>
          <a:ln w="12700">
            <a:solidFill>
              <a:srgbClr val="CCDD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 noProof="0" dirty="0"/>
          </a:p>
        </p:txBody>
      </p:sp>
      <p:sp>
        <p:nvSpPr>
          <p:cNvPr id="18" name="Rectangle 17"/>
          <p:cNvSpPr/>
          <p:nvPr/>
        </p:nvSpPr>
        <p:spPr>
          <a:xfrm>
            <a:off x="6446520" y="1280160"/>
            <a:ext cx="2743200" cy="64008"/>
          </a:xfrm>
          <a:prstGeom prst="rect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 noProof="0" dirty="0"/>
          </a:p>
        </p:txBody>
      </p:sp>
      <p:sp>
        <p:nvSpPr>
          <p:cNvPr id="19" name="TextBox 18"/>
          <p:cNvSpPr txBox="1"/>
          <p:nvPr/>
        </p:nvSpPr>
        <p:spPr>
          <a:xfrm>
            <a:off x="6583680" y="1463039"/>
            <a:ext cx="7315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s-AR" sz="2600" b="0" i="0" noProof="0" dirty="0">
                <a:latin typeface="Calibri"/>
              </a:rPr>
              <a:t>🔗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83680" y="2148839"/>
            <a:ext cx="2468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s-AR" sz="1400" b="1" i="0" noProof="0" dirty="0">
                <a:solidFill>
                  <a:srgbClr val="065A82"/>
                </a:solidFill>
                <a:latin typeface="Calibri"/>
              </a:rPr>
              <a:t>Alta Correlación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83680" y="2651760"/>
            <a:ext cx="24688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s-AR" sz="1150" b="0" i="0" noProof="0" dirty="0">
                <a:solidFill>
                  <a:srgbClr val="1E293B"/>
                </a:solidFill>
                <a:latin typeface="Calibri"/>
              </a:rPr>
              <a:t>Varios sensores presentan
alta correlación con la
vida útil restante.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9509760" y="1280160"/>
            <a:ext cx="2743200" cy="2926080"/>
          </a:xfrm>
          <a:prstGeom prst="rect">
            <a:avLst/>
          </a:prstGeom>
          <a:solidFill>
            <a:srgbClr val="FFFFFF"/>
          </a:solidFill>
          <a:ln w="12700">
            <a:solidFill>
              <a:srgbClr val="CCDD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 noProof="0" dirty="0"/>
          </a:p>
        </p:txBody>
      </p:sp>
      <p:sp>
        <p:nvSpPr>
          <p:cNvPr id="23" name="Rectangle 22"/>
          <p:cNvSpPr/>
          <p:nvPr/>
        </p:nvSpPr>
        <p:spPr>
          <a:xfrm>
            <a:off x="9509760" y="1280160"/>
            <a:ext cx="2743200" cy="64008"/>
          </a:xfrm>
          <a:prstGeom prst="rect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 noProof="0" dirty="0"/>
          </a:p>
        </p:txBody>
      </p:sp>
      <p:sp>
        <p:nvSpPr>
          <p:cNvPr id="24" name="TextBox 23"/>
          <p:cNvSpPr txBox="1"/>
          <p:nvPr/>
        </p:nvSpPr>
        <p:spPr>
          <a:xfrm>
            <a:off x="9646920" y="1463039"/>
            <a:ext cx="7315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s-AR" sz="2600" b="0" i="0" noProof="0" dirty="0">
                <a:latin typeface="Calibri"/>
              </a:rPr>
              <a:t>🔄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646920" y="2148839"/>
            <a:ext cx="2468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s-AR" sz="1400" b="1" i="0" noProof="0" dirty="0">
                <a:solidFill>
                  <a:srgbClr val="065A82"/>
                </a:solidFill>
                <a:latin typeface="Calibri"/>
              </a:rPr>
              <a:t>Patrones Repetitivos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646920" y="2651760"/>
            <a:ext cx="24688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s-AR" sz="1150" b="0" i="0" noProof="0" dirty="0">
                <a:solidFill>
                  <a:srgbClr val="1E293B"/>
                </a:solidFill>
                <a:latin typeface="Calibri"/>
              </a:rPr>
              <a:t>Los patrones de desgaste se
repiten en distintos motores,
lo que permite generalizar.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20040" y="4389120"/>
            <a:ext cx="11521440" cy="1645920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 noProof="0" dirty="0"/>
          </a:p>
        </p:txBody>
      </p:sp>
      <p:sp>
        <p:nvSpPr>
          <p:cNvPr id="28" name="TextBox 27"/>
          <p:cNvSpPr txBox="1"/>
          <p:nvPr/>
        </p:nvSpPr>
        <p:spPr>
          <a:xfrm>
            <a:off x="548640" y="448056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AR" sz="1200" b="1" i="0" noProof="0" dirty="0">
                <a:solidFill>
                  <a:srgbClr val="02C39A"/>
                </a:solidFill>
                <a:latin typeface="Calibri"/>
              </a:rPr>
              <a:t>TOP SENSORES CON MAYOR CORRELACIÓN CON VIDA ÚTIL</a:t>
            </a:r>
          </a:p>
        </p:txBody>
      </p:sp>
      <p:sp>
        <p:nvSpPr>
          <p:cNvPr id="29" name="Rectangle 28"/>
          <p:cNvSpPr/>
          <p:nvPr/>
        </p:nvSpPr>
        <p:spPr>
          <a:xfrm>
            <a:off x="914400" y="4956048"/>
            <a:ext cx="1554480" cy="457200"/>
          </a:xfrm>
          <a:prstGeom prst="rect">
            <a:avLst/>
          </a:prstGeom>
          <a:solidFill>
            <a:srgbClr val="1C7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 noProof="0" dirty="0"/>
          </a:p>
        </p:txBody>
      </p:sp>
      <p:sp>
        <p:nvSpPr>
          <p:cNvPr id="30" name="TextBox 29"/>
          <p:cNvSpPr txBox="1"/>
          <p:nvPr/>
        </p:nvSpPr>
        <p:spPr>
          <a:xfrm>
            <a:off x="1246725" y="4919744"/>
            <a:ext cx="14630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s-AR" sz="1100" b="1" i="0" noProof="0" dirty="0">
                <a:solidFill>
                  <a:srgbClr val="FFFFFF"/>
                </a:solidFill>
                <a:latin typeface="Calibri"/>
              </a:rPr>
              <a:t>sensor_11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14965" y="5157488"/>
            <a:ext cx="1463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s-AR" sz="1300" b="1" i="0" noProof="0" dirty="0">
                <a:solidFill>
                  <a:srgbClr val="02C39A"/>
                </a:solidFill>
                <a:latin typeface="Calibri"/>
              </a:rPr>
              <a:t>-0.847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063240" y="4956048"/>
            <a:ext cx="1554480" cy="457200"/>
          </a:xfrm>
          <a:prstGeom prst="rect">
            <a:avLst/>
          </a:prstGeom>
          <a:solidFill>
            <a:srgbClr val="1C7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 noProof="0" dirty="0"/>
          </a:p>
        </p:txBody>
      </p:sp>
      <p:sp>
        <p:nvSpPr>
          <p:cNvPr id="33" name="TextBox 32"/>
          <p:cNvSpPr txBox="1"/>
          <p:nvPr/>
        </p:nvSpPr>
        <p:spPr>
          <a:xfrm>
            <a:off x="3422862" y="4919744"/>
            <a:ext cx="14630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s-AR" sz="1100" b="1" i="0" noProof="0" dirty="0">
                <a:solidFill>
                  <a:srgbClr val="FFFFFF"/>
                </a:solidFill>
                <a:latin typeface="Calibri"/>
              </a:rPr>
              <a:t>sensor_4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450158" y="5157488"/>
            <a:ext cx="1463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s-AR" sz="1300" b="1" i="0" noProof="0" dirty="0">
                <a:solidFill>
                  <a:srgbClr val="02C39A"/>
                </a:solidFill>
                <a:latin typeface="Calibri"/>
              </a:rPr>
              <a:t>-0.821</a:t>
            </a:r>
          </a:p>
        </p:txBody>
      </p:sp>
      <p:sp>
        <p:nvSpPr>
          <p:cNvPr id="35" name="Rectangle 34"/>
          <p:cNvSpPr/>
          <p:nvPr/>
        </p:nvSpPr>
        <p:spPr>
          <a:xfrm>
            <a:off x="5212080" y="4956048"/>
            <a:ext cx="1554480" cy="457200"/>
          </a:xfrm>
          <a:prstGeom prst="rect">
            <a:avLst/>
          </a:prstGeom>
          <a:solidFill>
            <a:srgbClr val="1C7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 noProof="0" dirty="0"/>
          </a:p>
        </p:txBody>
      </p:sp>
      <p:sp>
        <p:nvSpPr>
          <p:cNvPr id="36" name="TextBox 35"/>
          <p:cNvSpPr txBox="1"/>
          <p:nvPr/>
        </p:nvSpPr>
        <p:spPr>
          <a:xfrm>
            <a:off x="5571702" y="4919744"/>
            <a:ext cx="14630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s-AR" sz="1100" b="1" i="0" noProof="0" dirty="0">
                <a:solidFill>
                  <a:srgbClr val="FFFFFF"/>
                </a:solidFill>
                <a:latin typeface="Calibri"/>
              </a:rPr>
              <a:t>sensor_12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598998" y="5157488"/>
            <a:ext cx="1463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s-AR" sz="1300" b="1" i="0" noProof="0" dirty="0">
                <a:solidFill>
                  <a:srgbClr val="02C39A"/>
                </a:solidFill>
                <a:latin typeface="Calibri"/>
              </a:rPr>
              <a:t>-0.813</a:t>
            </a:r>
          </a:p>
        </p:txBody>
      </p:sp>
      <p:sp>
        <p:nvSpPr>
          <p:cNvPr id="38" name="Rectangle 37"/>
          <p:cNvSpPr/>
          <p:nvPr/>
        </p:nvSpPr>
        <p:spPr>
          <a:xfrm>
            <a:off x="7360920" y="4956048"/>
            <a:ext cx="1554480" cy="457200"/>
          </a:xfrm>
          <a:prstGeom prst="rect">
            <a:avLst/>
          </a:prstGeom>
          <a:solidFill>
            <a:srgbClr val="1C7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 noProof="0" dirty="0"/>
          </a:p>
        </p:txBody>
      </p:sp>
      <p:sp>
        <p:nvSpPr>
          <p:cNvPr id="39" name="TextBox 38"/>
          <p:cNvSpPr txBox="1"/>
          <p:nvPr/>
        </p:nvSpPr>
        <p:spPr>
          <a:xfrm>
            <a:off x="7720542" y="4919744"/>
            <a:ext cx="14630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s-AR" sz="1100" b="1" i="0" noProof="0" dirty="0">
                <a:solidFill>
                  <a:srgbClr val="FFFFFF"/>
                </a:solidFill>
                <a:latin typeface="Calibri"/>
              </a:rPr>
              <a:t>sensor_15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747838" y="5157488"/>
            <a:ext cx="1463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s-AR" sz="1300" b="1" i="0" noProof="0" dirty="0">
                <a:solidFill>
                  <a:srgbClr val="02C39A"/>
                </a:solidFill>
                <a:latin typeface="Calibri"/>
              </a:rPr>
              <a:t>+0.798</a:t>
            </a:r>
          </a:p>
        </p:txBody>
      </p:sp>
      <p:sp>
        <p:nvSpPr>
          <p:cNvPr id="41" name="Rectangle 40"/>
          <p:cNvSpPr/>
          <p:nvPr/>
        </p:nvSpPr>
        <p:spPr>
          <a:xfrm>
            <a:off x="9509760" y="4956048"/>
            <a:ext cx="1554480" cy="457200"/>
          </a:xfrm>
          <a:prstGeom prst="rect">
            <a:avLst/>
          </a:prstGeom>
          <a:solidFill>
            <a:srgbClr val="1C7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 noProof="0" dirty="0"/>
          </a:p>
        </p:txBody>
      </p:sp>
      <p:sp>
        <p:nvSpPr>
          <p:cNvPr id="42" name="TextBox 41"/>
          <p:cNvSpPr txBox="1"/>
          <p:nvPr/>
        </p:nvSpPr>
        <p:spPr>
          <a:xfrm>
            <a:off x="9869382" y="4919744"/>
            <a:ext cx="14630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s-AR" sz="1100" b="1" i="0" noProof="0" dirty="0">
                <a:solidFill>
                  <a:srgbClr val="FFFFFF"/>
                </a:solidFill>
                <a:latin typeface="Calibri"/>
              </a:rPr>
              <a:t>sensor_7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896678" y="5157488"/>
            <a:ext cx="1463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s-AR" sz="1300" b="1" i="0" noProof="0" dirty="0">
                <a:solidFill>
                  <a:srgbClr val="02C39A"/>
                </a:solidFill>
                <a:latin typeface="Calibri"/>
              </a:rPr>
              <a:t>-0.771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0F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 noProof="0" dirty="0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 noProof="0" dirty="0"/>
          </a:p>
        </p:txBody>
      </p:sp>
      <p:sp>
        <p:nvSpPr>
          <p:cNvPr id="4" name="Rectangle 3"/>
          <p:cNvSpPr/>
          <p:nvPr/>
        </p:nvSpPr>
        <p:spPr>
          <a:xfrm>
            <a:off x="0" y="1005840"/>
            <a:ext cx="12188952" cy="45720"/>
          </a:xfrm>
          <a:prstGeom prst="rect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 noProof="0" dirty="0"/>
          </a:p>
        </p:txBody>
      </p:sp>
      <p:sp>
        <p:nvSpPr>
          <p:cNvPr id="5" name="TextBox 4"/>
          <p:cNvSpPr txBox="1"/>
          <p:nvPr/>
        </p:nvSpPr>
        <p:spPr>
          <a:xfrm>
            <a:off x="365760" y="13716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s-AR" sz="2800" b="1" i="0" noProof="0" dirty="0">
                <a:solidFill>
                  <a:srgbClr val="FFFFFF"/>
                </a:solidFill>
                <a:latin typeface="Calibri"/>
              </a:rPr>
              <a:t>Modelos de Machine </a:t>
            </a:r>
            <a:r>
              <a:rPr lang="es-AR" sz="2800" b="1" i="0" noProof="0" dirty="0" err="1">
                <a:solidFill>
                  <a:srgbClr val="FFFFFF"/>
                </a:solidFill>
                <a:latin typeface="Calibri"/>
              </a:rPr>
              <a:t>Learning</a:t>
            </a:r>
            <a:endParaRPr lang="es-AR" sz="2800" b="1" i="0" noProof="0" dirty="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365760" y="73152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s-AR" sz="1300" b="0" i="1" noProof="0" dirty="0">
                <a:solidFill>
                  <a:srgbClr val="B0D0E8"/>
                </a:solidFill>
                <a:latin typeface="Calibri"/>
              </a:rPr>
              <a:t>Regresión, Random Forest y </a:t>
            </a:r>
            <a:r>
              <a:rPr lang="es-AR" sz="1300" b="0" i="1" noProof="0" dirty="0" err="1">
                <a:solidFill>
                  <a:srgbClr val="B0D0E8"/>
                </a:solidFill>
                <a:latin typeface="Calibri"/>
              </a:rPr>
              <a:t>XGBoost</a:t>
            </a:r>
            <a:endParaRPr lang="es-AR" sz="1300" b="0" i="1" noProof="0" dirty="0">
              <a:solidFill>
                <a:srgbClr val="B0D0E8"/>
              </a:solidFill>
              <a:latin typeface="Calibri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365760" y="11430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s-AR" sz="1400" b="1" i="0" noProof="0" dirty="0">
                <a:solidFill>
                  <a:srgbClr val="065A82"/>
                </a:solidFill>
                <a:latin typeface="Calibri"/>
              </a:rPr>
              <a:t>Estrategia de Modelado</a:t>
            </a:r>
          </a:p>
        </p:txBody>
      </p:sp>
      <p:sp>
        <p:nvSpPr>
          <p:cNvPr id="8" name="Rectangle 7"/>
          <p:cNvSpPr/>
          <p:nvPr/>
        </p:nvSpPr>
        <p:spPr>
          <a:xfrm>
            <a:off x="320040" y="1600200"/>
            <a:ext cx="2697480" cy="4434840"/>
          </a:xfrm>
          <a:prstGeom prst="rect">
            <a:avLst/>
          </a:prstGeom>
          <a:solidFill>
            <a:srgbClr val="FFFFFF"/>
          </a:solidFill>
          <a:ln w="12700">
            <a:solidFill>
              <a:srgbClr val="CCDD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 noProof="0" dirty="0"/>
          </a:p>
        </p:txBody>
      </p:sp>
      <p:sp>
        <p:nvSpPr>
          <p:cNvPr id="9" name="Rectangle 8"/>
          <p:cNvSpPr/>
          <p:nvPr/>
        </p:nvSpPr>
        <p:spPr>
          <a:xfrm>
            <a:off x="320040" y="1600200"/>
            <a:ext cx="2697480" cy="502920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 noProof="0" dirty="0"/>
          </a:p>
        </p:txBody>
      </p:sp>
      <p:sp>
        <p:nvSpPr>
          <p:cNvPr id="10" name="TextBox 9"/>
          <p:cNvSpPr txBox="1"/>
          <p:nvPr/>
        </p:nvSpPr>
        <p:spPr>
          <a:xfrm>
            <a:off x="393192" y="1627632"/>
            <a:ext cx="502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s-AR" sz="2000" b="1" i="0" noProof="0" dirty="0">
                <a:solidFill>
                  <a:srgbClr val="02C39A"/>
                </a:solidFill>
                <a:latin typeface="Calibri"/>
              </a:rP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1664208"/>
            <a:ext cx="20574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s-AR" sz="1150" b="1" i="0" noProof="0" dirty="0">
                <a:solidFill>
                  <a:srgbClr val="FFFFFF"/>
                </a:solidFill>
                <a:latin typeface="Calibri"/>
              </a:rPr>
              <a:t>Regresión Lineal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29768" y="2194560"/>
            <a:ext cx="2514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s-AR" sz="1100" b="1" i="0" noProof="0" dirty="0">
                <a:solidFill>
                  <a:srgbClr val="065A82"/>
                </a:solidFill>
                <a:latin typeface="Calibri"/>
              </a:rPr>
              <a:t>Configuración: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29768" y="2514600"/>
            <a:ext cx="251460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s-AR" sz="1050" b="0" i="0" noProof="0" dirty="0">
                <a:solidFill>
                  <a:srgbClr val="1E293B"/>
                </a:solidFill>
                <a:latin typeface="Calibri"/>
              </a:rPr>
              <a:t>Modelo base (</a:t>
            </a:r>
            <a:r>
              <a:rPr lang="es-AR" sz="1050" b="0" i="0" noProof="0" dirty="0" err="1">
                <a:solidFill>
                  <a:srgbClr val="1E293B"/>
                </a:solidFill>
                <a:latin typeface="Calibri"/>
              </a:rPr>
              <a:t>baseline</a:t>
            </a:r>
            <a:r>
              <a:rPr lang="es-AR" sz="1050" b="0" i="0" noProof="0" dirty="0">
                <a:solidFill>
                  <a:srgbClr val="1E293B"/>
                </a:solidFill>
                <a:latin typeface="Calibri"/>
              </a:rPr>
              <a:t>).
Captura relaciones
lineales entre sensores
y vida útil.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29768" y="4160520"/>
            <a:ext cx="2468880" cy="54864"/>
          </a:xfrm>
          <a:prstGeom prst="rect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 noProof="0" dirty="0"/>
          </a:p>
        </p:txBody>
      </p:sp>
      <p:sp>
        <p:nvSpPr>
          <p:cNvPr id="15" name="TextBox 14"/>
          <p:cNvSpPr txBox="1"/>
          <p:nvPr/>
        </p:nvSpPr>
        <p:spPr>
          <a:xfrm>
            <a:off x="429768" y="4251960"/>
            <a:ext cx="2514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s-AR" sz="1100" b="1" i="0" noProof="0" dirty="0">
                <a:solidFill>
                  <a:srgbClr val="1C7293"/>
                </a:solidFill>
                <a:latin typeface="Calibri"/>
              </a:rPr>
              <a:t>Ventaja: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29768" y="4526280"/>
            <a:ext cx="2514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s-AR" sz="1050" b="0" i="0" noProof="0" dirty="0">
                <a:solidFill>
                  <a:srgbClr val="1E293B"/>
                </a:solidFill>
                <a:latin typeface="Calibri"/>
              </a:rPr>
              <a:t>Interpretabilidad
alta. Referencia
para comparar.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246120" y="1600200"/>
            <a:ext cx="2697480" cy="4434840"/>
          </a:xfrm>
          <a:prstGeom prst="rect">
            <a:avLst/>
          </a:prstGeom>
          <a:solidFill>
            <a:srgbClr val="FFFFFF"/>
          </a:solidFill>
          <a:ln w="12700">
            <a:solidFill>
              <a:srgbClr val="CCDD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 noProof="0" dirty="0"/>
          </a:p>
        </p:txBody>
      </p:sp>
      <p:sp>
        <p:nvSpPr>
          <p:cNvPr id="18" name="Rectangle 17"/>
          <p:cNvSpPr/>
          <p:nvPr/>
        </p:nvSpPr>
        <p:spPr>
          <a:xfrm>
            <a:off x="3246120" y="1600200"/>
            <a:ext cx="2697480" cy="502920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 noProof="0" dirty="0"/>
          </a:p>
        </p:txBody>
      </p:sp>
      <p:sp>
        <p:nvSpPr>
          <p:cNvPr id="19" name="TextBox 18"/>
          <p:cNvSpPr txBox="1"/>
          <p:nvPr/>
        </p:nvSpPr>
        <p:spPr>
          <a:xfrm>
            <a:off x="3319272" y="1627632"/>
            <a:ext cx="502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s-AR" sz="2000" b="1" i="0" noProof="0" dirty="0">
                <a:solidFill>
                  <a:srgbClr val="02C39A"/>
                </a:solidFill>
                <a:latin typeface="Calibri"/>
              </a:rPr>
              <a:t>02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794760" y="1664208"/>
            <a:ext cx="20574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s-AR" sz="1150" b="1" i="0" noProof="0" dirty="0">
                <a:solidFill>
                  <a:srgbClr val="FFFFFF"/>
                </a:solidFill>
                <a:latin typeface="Calibri"/>
              </a:rPr>
              <a:t>Random Forest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355848" y="2194560"/>
            <a:ext cx="2514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s-AR" sz="1100" b="1" i="0" noProof="0" dirty="0">
                <a:solidFill>
                  <a:srgbClr val="065A82"/>
                </a:solidFill>
                <a:latin typeface="Calibri"/>
              </a:rPr>
              <a:t>Configuración: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355848" y="2514600"/>
            <a:ext cx="251460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s-AR" sz="1050" b="0" i="0" noProof="0" dirty="0">
                <a:solidFill>
                  <a:srgbClr val="1E293B"/>
                </a:solidFill>
                <a:latin typeface="Calibri"/>
              </a:rPr>
              <a:t>100 árboles de decisión.
Captura relaciones no
lineales y reduce el
 sobreajuste.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355848" y="4160520"/>
            <a:ext cx="2468880" cy="54864"/>
          </a:xfrm>
          <a:prstGeom prst="rect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 noProof="0" dirty="0"/>
          </a:p>
        </p:txBody>
      </p:sp>
      <p:sp>
        <p:nvSpPr>
          <p:cNvPr id="24" name="TextBox 23"/>
          <p:cNvSpPr txBox="1"/>
          <p:nvPr/>
        </p:nvSpPr>
        <p:spPr>
          <a:xfrm>
            <a:off x="3355848" y="4251960"/>
            <a:ext cx="2514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s-AR" sz="1100" b="1" i="0" noProof="0" dirty="0">
                <a:solidFill>
                  <a:srgbClr val="1C7293"/>
                </a:solidFill>
                <a:latin typeface="Calibri"/>
              </a:rPr>
              <a:t>Ventaja: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355848" y="4526280"/>
            <a:ext cx="2514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s-AR" sz="1050" b="0" i="0" noProof="0" dirty="0">
                <a:solidFill>
                  <a:srgbClr val="1E293B"/>
                </a:solidFill>
                <a:latin typeface="Calibri"/>
              </a:rPr>
              <a:t>Mayor robustez.
Maneja </a:t>
            </a:r>
            <a:r>
              <a:rPr lang="es-AR" sz="1050" b="0" i="0" noProof="0" dirty="0" err="1">
                <a:solidFill>
                  <a:srgbClr val="1E293B"/>
                </a:solidFill>
                <a:latin typeface="Calibri"/>
              </a:rPr>
              <a:t>outliers</a:t>
            </a:r>
            <a:r>
              <a:rPr lang="es-AR" sz="1050" b="0" i="0" noProof="0" dirty="0">
                <a:solidFill>
                  <a:srgbClr val="1E293B"/>
                </a:solidFill>
                <a:latin typeface="Calibri"/>
              </a:rPr>
              <a:t>
naturalmente.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172200" y="1600200"/>
            <a:ext cx="2697480" cy="4434840"/>
          </a:xfrm>
          <a:prstGeom prst="rect">
            <a:avLst/>
          </a:prstGeom>
          <a:solidFill>
            <a:srgbClr val="FFFFFF"/>
          </a:solidFill>
          <a:ln w="12700">
            <a:solidFill>
              <a:srgbClr val="CCDD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 noProof="0" dirty="0"/>
          </a:p>
        </p:txBody>
      </p:sp>
      <p:sp>
        <p:nvSpPr>
          <p:cNvPr id="27" name="Rectangle 26"/>
          <p:cNvSpPr/>
          <p:nvPr/>
        </p:nvSpPr>
        <p:spPr>
          <a:xfrm>
            <a:off x="6172200" y="1600200"/>
            <a:ext cx="2697480" cy="502920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 noProof="0" dirty="0"/>
          </a:p>
        </p:txBody>
      </p:sp>
      <p:sp>
        <p:nvSpPr>
          <p:cNvPr id="28" name="TextBox 27"/>
          <p:cNvSpPr txBox="1"/>
          <p:nvPr/>
        </p:nvSpPr>
        <p:spPr>
          <a:xfrm>
            <a:off x="6245352" y="1627632"/>
            <a:ext cx="502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s-AR" sz="2000" b="1" i="0" noProof="0" dirty="0">
                <a:solidFill>
                  <a:srgbClr val="02C39A"/>
                </a:solidFill>
                <a:latin typeface="Calibri"/>
              </a:rPr>
              <a:t>03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720840" y="1664208"/>
            <a:ext cx="20574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s-AR" sz="1150" b="1" i="0" noProof="0" dirty="0">
                <a:solidFill>
                  <a:srgbClr val="FFFFFF"/>
                </a:solidFill>
                <a:latin typeface="Calibri"/>
              </a:rPr>
              <a:t>RF Optimizado
(</a:t>
            </a:r>
            <a:r>
              <a:rPr lang="es-AR" sz="1150" b="1" i="0" noProof="0" dirty="0" err="1">
                <a:solidFill>
                  <a:srgbClr val="FFFFFF"/>
                </a:solidFill>
                <a:latin typeface="Calibri"/>
              </a:rPr>
              <a:t>GridSearchCV</a:t>
            </a:r>
            <a:r>
              <a:rPr lang="es-AR" sz="1150" b="1" i="0" noProof="0" dirty="0">
                <a:solidFill>
                  <a:srgbClr val="FFFFFF"/>
                </a:solidFill>
                <a:latin typeface="Calibri"/>
              </a:rPr>
              <a:t>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281928" y="2194560"/>
            <a:ext cx="2514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s-AR" sz="1100" b="1" i="0" noProof="0" dirty="0">
                <a:solidFill>
                  <a:srgbClr val="065A82"/>
                </a:solidFill>
                <a:latin typeface="Calibri"/>
              </a:rPr>
              <a:t>Configuración: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281928" y="2514600"/>
            <a:ext cx="251460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s-AR" sz="1050" b="0" i="0" noProof="0" dirty="0">
                <a:solidFill>
                  <a:srgbClr val="1E293B"/>
                </a:solidFill>
                <a:latin typeface="Calibri"/>
              </a:rPr>
              <a:t>Búsqueda de mejores
</a:t>
            </a:r>
            <a:r>
              <a:rPr lang="es-AR" sz="1050" b="0" i="0" noProof="0" dirty="0" err="1">
                <a:solidFill>
                  <a:srgbClr val="1E293B"/>
                </a:solidFill>
                <a:latin typeface="Calibri"/>
              </a:rPr>
              <a:t>hiperparámetros</a:t>
            </a:r>
            <a:r>
              <a:rPr lang="es-AR" sz="1050" b="0" i="0" noProof="0" dirty="0">
                <a:solidFill>
                  <a:srgbClr val="1E293B"/>
                </a:solidFill>
                <a:latin typeface="Calibri"/>
              </a:rPr>
              <a:t>:
</a:t>
            </a:r>
            <a:r>
              <a:rPr lang="es-AR" sz="1050" b="0" i="0" noProof="0" dirty="0" err="1">
                <a:solidFill>
                  <a:srgbClr val="1E293B"/>
                </a:solidFill>
                <a:latin typeface="Calibri"/>
              </a:rPr>
              <a:t>n_estimators</a:t>
            </a:r>
            <a:r>
              <a:rPr lang="es-AR" sz="1050" b="0" i="0" noProof="0" dirty="0">
                <a:solidFill>
                  <a:srgbClr val="1E293B"/>
                </a:solidFill>
                <a:latin typeface="Calibri"/>
              </a:rPr>
              <a:t>, </a:t>
            </a:r>
            <a:r>
              <a:rPr lang="es-AR" sz="1050" b="0" i="0" noProof="0" dirty="0" err="1">
                <a:solidFill>
                  <a:srgbClr val="1E293B"/>
                </a:solidFill>
                <a:latin typeface="Calibri"/>
              </a:rPr>
              <a:t>max_depth</a:t>
            </a:r>
            <a:r>
              <a:rPr lang="es-AR" sz="1050" b="0" i="0" noProof="0" dirty="0">
                <a:solidFill>
                  <a:srgbClr val="1E293B"/>
                </a:solidFill>
                <a:latin typeface="Calibri"/>
              </a:rPr>
              <a:t>,
</a:t>
            </a:r>
            <a:r>
              <a:rPr lang="es-AR" sz="1050" b="0" i="0" noProof="0" dirty="0" err="1">
                <a:solidFill>
                  <a:srgbClr val="1E293B"/>
                </a:solidFill>
                <a:latin typeface="Calibri"/>
              </a:rPr>
              <a:t>min_samples_split</a:t>
            </a:r>
            <a:r>
              <a:rPr lang="es-AR" sz="1050" b="0" i="0" noProof="0" dirty="0">
                <a:solidFill>
                  <a:srgbClr val="1E293B"/>
                </a:solidFill>
                <a:latin typeface="Calibri"/>
              </a:rPr>
              <a:t>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281928" y="4160520"/>
            <a:ext cx="2468880" cy="54864"/>
          </a:xfrm>
          <a:prstGeom prst="rect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 noProof="0" dirty="0"/>
          </a:p>
        </p:txBody>
      </p:sp>
      <p:sp>
        <p:nvSpPr>
          <p:cNvPr id="33" name="TextBox 32"/>
          <p:cNvSpPr txBox="1"/>
          <p:nvPr/>
        </p:nvSpPr>
        <p:spPr>
          <a:xfrm>
            <a:off x="6281928" y="4251960"/>
            <a:ext cx="2514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s-AR" sz="1100" b="1" i="0" noProof="0" dirty="0">
                <a:solidFill>
                  <a:srgbClr val="1C7293"/>
                </a:solidFill>
                <a:latin typeface="Calibri"/>
              </a:rPr>
              <a:t>Ventaja: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281928" y="4526280"/>
            <a:ext cx="2514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s-AR" sz="1050" b="0" i="0" noProof="0" dirty="0">
                <a:solidFill>
                  <a:srgbClr val="1E293B"/>
                </a:solidFill>
                <a:latin typeface="Calibri"/>
              </a:rPr>
              <a:t>Maximiza R² con
validación cruzada
</a:t>
            </a:r>
            <a:r>
              <a:rPr lang="es-AR" sz="1050" b="0" i="0" noProof="0" dirty="0" err="1">
                <a:solidFill>
                  <a:srgbClr val="1E293B"/>
                </a:solidFill>
                <a:latin typeface="Calibri"/>
              </a:rPr>
              <a:t>cv</a:t>
            </a:r>
            <a:r>
              <a:rPr lang="es-AR" sz="1050" b="0" i="0" noProof="0" dirty="0">
                <a:solidFill>
                  <a:srgbClr val="1E293B"/>
                </a:solidFill>
                <a:latin typeface="Calibri"/>
              </a:rPr>
              <a:t>=3 </a:t>
            </a:r>
            <a:r>
              <a:rPr lang="es-AR" sz="1050" b="0" i="0" noProof="0" dirty="0" err="1">
                <a:solidFill>
                  <a:srgbClr val="1E293B"/>
                </a:solidFill>
                <a:latin typeface="Calibri"/>
              </a:rPr>
              <a:t>folds</a:t>
            </a:r>
            <a:r>
              <a:rPr lang="es-AR" sz="1050" b="0" i="0" noProof="0" dirty="0">
                <a:solidFill>
                  <a:srgbClr val="1E293B"/>
                </a:solidFill>
                <a:latin typeface="Calibri"/>
              </a:rPr>
              <a:t>.</a:t>
            </a:r>
          </a:p>
        </p:txBody>
      </p:sp>
      <p:sp>
        <p:nvSpPr>
          <p:cNvPr id="35" name="Rectangle 34"/>
          <p:cNvSpPr/>
          <p:nvPr/>
        </p:nvSpPr>
        <p:spPr>
          <a:xfrm>
            <a:off x="9098280" y="1600200"/>
            <a:ext cx="2697480" cy="4434840"/>
          </a:xfrm>
          <a:prstGeom prst="rect">
            <a:avLst/>
          </a:prstGeom>
          <a:solidFill>
            <a:srgbClr val="FFFFFF"/>
          </a:solidFill>
          <a:ln w="12700">
            <a:solidFill>
              <a:srgbClr val="CCDD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 noProof="0" dirty="0"/>
          </a:p>
        </p:txBody>
      </p:sp>
      <p:sp>
        <p:nvSpPr>
          <p:cNvPr id="36" name="Rectangle 35"/>
          <p:cNvSpPr/>
          <p:nvPr/>
        </p:nvSpPr>
        <p:spPr>
          <a:xfrm>
            <a:off x="9098280" y="1600200"/>
            <a:ext cx="2697480" cy="502920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 noProof="0" dirty="0"/>
          </a:p>
        </p:txBody>
      </p:sp>
      <p:sp>
        <p:nvSpPr>
          <p:cNvPr id="37" name="TextBox 36"/>
          <p:cNvSpPr txBox="1"/>
          <p:nvPr/>
        </p:nvSpPr>
        <p:spPr>
          <a:xfrm>
            <a:off x="9171432" y="1627632"/>
            <a:ext cx="502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s-AR" sz="2000" b="1" i="0" noProof="0" dirty="0">
                <a:solidFill>
                  <a:srgbClr val="02C39A"/>
                </a:solidFill>
                <a:latin typeface="Calibri"/>
              </a:rPr>
              <a:t>04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646920" y="1664208"/>
            <a:ext cx="20574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s-AR" sz="1150" b="1" i="0" noProof="0" dirty="0" err="1">
                <a:solidFill>
                  <a:srgbClr val="FFFFFF"/>
                </a:solidFill>
                <a:latin typeface="Calibri"/>
              </a:rPr>
              <a:t>XGBoost</a:t>
            </a:r>
            <a:endParaRPr lang="es-AR" sz="1150" b="1" i="0" noProof="0" dirty="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9" name="TextBox 38"/>
          <p:cNvSpPr txBox="1"/>
          <p:nvPr/>
        </p:nvSpPr>
        <p:spPr>
          <a:xfrm>
            <a:off x="9208008" y="2194560"/>
            <a:ext cx="2514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s-AR" sz="1100" b="1" i="0" noProof="0" dirty="0">
                <a:solidFill>
                  <a:srgbClr val="065A82"/>
                </a:solidFill>
                <a:latin typeface="Calibri"/>
              </a:rPr>
              <a:t>Configuración: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208008" y="2514600"/>
            <a:ext cx="251460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s-AR" sz="1050" b="0" i="0" noProof="0" dirty="0" err="1">
                <a:solidFill>
                  <a:srgbClr val="1E293B"/>
                </a:solidFill>
                <a:latin typeface="Calibri"/>
              </a:rPr>
              <a:t>Gradient</a:t>
            </a:r>
            <a:r>
              <a:rPr lang="es-AR" sz="1050" b="0" i="0" noProof="0" dirty="0">
                <a:solidFill>
                  <a:srgbClr val="1E293B"/>
                </a:solidFill>
                <a:latin typeface="Calibri"/>
              </a:rPr>
              <a:t> </a:t>
            </a:r>
            <a:r>
              <a:rPr lang="es-AR" sz="1050" b="0" i="0" noProof="0" dirty="0" err="1">
                <a:solidFill>
                  <a:srgbClr val="1E293B"/>
                </a:solidFill>
                <a:latin typeface="Calibri"/>
              </a:rPr>
              <a:t>Boosting</a:t>
            </a:r>
            <a:r>
              <a:rPr lang="es-AR" sz="1050" b="0" i="0" noProof="0" dirty="0">
                <a:solidFill>
                  <a:srgbClr val="1E293B"/>
                </a:solidFill>
                <a:latin typeface="Calibri"/>
              </a:rPr>
              <a:t> con
200 estimadores.
</a:t>
            </a:r>
            <a:r>
              <a:rPr lang="es-AR" sz="1050" b="0" i="0" noProof="0" dirty="0" err="1">
                <a:solidFill>
                  <a:srgbClr val="1E293B"/>
                </a:solidFill>
                <a:latin typeface="Calibri"/>
              </a:rPr>
              <a:t>learning_rate</a:t>
            </a:r>
            <a:r>
              <a:rPr lang="es-AR" sz="1050" b="0" i="0" noProof="0" dirty="0">
                <a:solidFill>
                  <a:srgbClr val="1E293B"/>
                </a:solidFill>
                <a:latin typeface="Calibri"/>
              </a:rPr>
              <a:t>=0.05,
</a:t>
            </a:r>
            <a:r>
              <a:rPr lang="es-AR" sz="1050" b="0" i="0" noProof="0" dirty="0" err="1">
                <a:solidFill>
                  <a:srgbClr val="1E293B"/>
                </a:solidFill>
                <a:latin typeface="Calibri"/>
              </a:rPr>
              <a:t>max_depth</a:t>
            </a:r>
            <a:r>
              <a:rPr lang="es-AR" sz="1050" b="0" i="0" noProof="0" dirty="0">
                <a:solidFill>
                  <a:srgbClr val="1E293B"/>
                </a:solidFill>
                <a:latin typeface="Calibri"/>
              </a:rPr>
              <a:t>=6.</a:t>
            </a:r>
          </a:p>
        </p:txBody>
      </p:sp>
      <p:sp>
        <p:nvSpPr>
          <p:cNvPr id="41" name="Rectangle 40"/>
          <p:cNvSpPr/>
          <p:nvPr/>
        </p:nvSpPr>
        <p:spPr>
          <a:xfrm>
            <a:off x="9208008" y="4160520"/>
            <a:ext cx="2468880" cy="54864"/>
          </a:xfrm>
          <a:prstGeom prst="rect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 noProof="0" dirty="0"/>
          </a:p>
        </p:txBody>
      </p:sp>
      <p:sp>
        <p:nvSpPr>
          <p:cNvPr id="42" name="TextBox 41"/>
          <p:cNvSpPr txBox="1"/>
          <p:nvPr/>
        </p:nvSpPr>
        <p:spPr>
          <a:xfrm>
            <a:off x="9208008" y="4251960"/>
            <a:ext cx="2514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s-AR" sz="1100" b="1" i="0" noProof="0" dirty="0">
                <a:solidFill>
                  <a:srgbClr val="1C7293"/>
                </a:solidFill>
                <a:latin typeface="Calibri"/>
              </a:rPr>
              <a:t>Ventaja: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208008" y="4526280"/>
            <a:ext cx="2514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s-AR" sz="1050" b="0" i="0" noProof="0" dirty="0">
                <a:solidFill>
                  <a:srgbClr val="1E293B"/>
                </a:solidFill>
                <a:latin typeface="Calibri"/>
              </a:rPr>
              <a:t>Alto rendimiento
predictivo en
datos industriales.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84127" y="6376920"/>
            <a:ext cx="114300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AR" sz="1100" b="0" i="1" noProof="0" dirty="0">
                <a:solidFill>
                  <a:srgbClr val="64748B"/>
                </a:solidFill>
                <a:latin typeface="Calibri"/>
              </a:rPr>
              <a:t>  </a:t>
            </a:r>
            <a:r>
              <a:rPr lang="es-AR" sz="1400" b="0" i="1" noProof="0" dirty="0">
                <a:solidFill>
                  <a:srgbClr val="64748B"/>
                </a:solidFill>
                <a:latin typeface="Calibri"/>
              </a:rPr>
              <a:t>Train/Test Split 80/20  ·  </a:t>
            </a:r>
            <a:r>
              <a:rPr lang="es-AR" sz="1400" b="0" i="1" noProof="0" dirty="0" err="1">
                <a:solidFill>
                  <a:srgbClr val="64748B"/>
                </a:solidFill>
                <a:latin typeface="Calibri"/>
              </a:rPr>
              <a:t>StandardScaler</a:t>
            </a:r>
            <a:r>
              <a:rPr lang="es-AR" sz="1400" b="0" i="1" noProof="0" dirty="0">
                <a:solidFill>
                  <a:srgbClr val="64748B"/>
                </a:solidFill>
                <a:latin typeface="Calibri"/>
              </a:rPr>
              <a:t> para regresión lineal  ·  Validación cruzada 5-fold en todos los modelos</a:t>
            </a:r>
          </a:p>
        </p:txBody>
      </p:sp>
      <p:pic>
        <p:nvPicPr>
          <p:cNvPr id="45" name="Picture 6" descr="Icono Solicitar aceptar cheque bien">
            <a:extLst>
              <a:ext uri="{FF2B5EF4-FFF2-40B4-BE49-F238E27FC236}">
                <a16:creationId xmlns:a16="http://schemas.microsoft.com/office/drawing/2014/main" id="{FAFE37C5-C00A-4476-D5BF-B0271A33F52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30607" y="6367903"/>
            <a:ext cx="339915" cy="33991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0F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 noProof="0" dirty="0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 noProof="0" dirty="0"/>
          </a:p>
        </p:txBody>
      </p:sp>
      <p:sp>
        <p:nvSpPr>
          <p:cNvPr id="4" name="Rectangle 3"/>
          <p:cNvSpPr/>
          <p:nvPr/>
        </p:nvSpPr>
        <p:spPr>
          <a:xfrm>
            <a:off x="0" y="1005840"/>
            <a:ext cx="12188952" cy="45720"/>
          </a:xfrm>
          <a:prstGeom prst="rect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 noProof="0" dirty="0"/>
          </a:p>
        </p:txBody>
      </p:sp>
      <p:sp>
        <p:nvSpPr>
          <p:cNvPr id="5" name="TextBox 4"/>
          <p:cNvSpPr txBox="1"/>
          <p:nvPr/>
        </p:nvSpPr>
        <p:spPr>
          <a:xfrm>
            <a:off x="365760" y="13716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s-AR" sz="2800" b="1" i="0" noProof="0" dirty="0">
                <a:solidFill>
                  <a:srgbClr val="FFFFFF"/>
                </a:solidFill>
                <a:latin typeface="Calibri"/>
              </a:rPr>
              <a:t>Resultados Comparativos de Modelos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73152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s-AR" sz="1300" b="0" i="1" noProof="0" dirty="0">
                <a:solidFill>
                  <a:srgbClr val="B0D0E8"/>
                </a:solidFill>
                <a:latin typeface="Calibri"/>
              </a:rPr>
              <a:t>Métricas de evaluación: RMSE · MAE · R²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1234440"/>
            <a:ext cx="2468880" cy="457200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 noProof="0" dirty="0"/>
          </a:p>
        </p:txBody>
      </p:sp>
      <p:sp>
        <p:nvSpPr>
          <p:cNvPr id="8" name="TextBox 7"/>
          <p:cNvSpPr txBox="1"/>
          <p:nvPr/>
        </p:nvSpPr>
        <p:spPr>
          <a:xfrm>
            <a:off x="457200" y="128016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AR" sz="1300" b="1" i="0" noProof="0" dirty="0">
                <a:solidFill>
                  <a:srgbClr val="FFFFFF"/>
                </a:solidFill>
                <a:latin typeface="Calibri"/>
              </a:rPr>
              <a:t>Modelo</a:t>
            </a:r>
          </a:p>
        </p:txBody>
      </p:sp>
      <p:sp>
        <p:nvSpPr>
          <p:cNvPr id="9" name="Rectangle 8"/>
          <p:cNvSpPr/>
          <p:nvPr/>
        </p:nvSpPr>
        <p:spPr>
          <a:xfrm>
            <a:off x="2926080" y="1234440"/>
            <a:ext cx="2468880" cy="457200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 noProof="0" dirty="0"/>
          </a:p>
        </p:txBody>
      </p:sp>
      <p:sp>
        <p:nvSpPr>
          <p:cNvPr id="10" name="TextBox 9"/>
          <p:cNvSpPr txBox="1"/>
          <p:nvPr/>
        </p:nvSpPr>
        <p:spPr>
          <a:xfrm>
            <a:off x="3017520" y="128016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AR" sz="1300" b="1" i="0" noProof="0" dirty="0">
                <a:solidFill>
                  <a:srgbClr val="FFFFFF"/>
                </a:solidFill>
                <a:latin typeface="Calibri"/>
              </a:rPr>
              <a:t>RMSE ↓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0" y="1234440"/>
            <a:ext cx="2468880" cy="457200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 noProof="0" dirty="0"/>
          </a:p>
        </p:txBody>
      </p:sp>
      <p:sp>
        <p:nvSpPr>
          <p:cNvPr id="12" name="TextBox 11"/>
          <p:cNvSpPr txBox="1"/>
          <p:nvPr/>
        </p:nvSpPr>
        <p:spPr>
          <a:xfrm>
            <a:off x="5577840" y="128016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AR" sz="1300" b="1" i="0" noProof="0" dirty="0">
                <a:solidFill>
                  <a:srgbClr val="FFFFFF"/>
                </a:solidFill>
                <a:latin typeface="Calibri"/>
              </a:rPr>
              <a:t>MAE ↓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046720" y="1234440"/>
            <a:ext cx="2103120" cy="457200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 noProof="0" dirty="0"/>
          </a:p>
        </p:txBody>
      </p:sp>
      <p:sp>
        <p:nvSpPr>
          <p:cNvPr id="14" name="TextBox 13"/>
          <p:cNvSpPr txBox="1"/>
          <p:nvPr/>
        </p:nvSpPr>
        <p:spPr>
          <a:xfrm>
            <a:off x="8138160" y="128016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AR" sz="1300" b="1" i="0" noProof="0" dirty="0">
                <a:solidFill>
                  <a:srgbClr val="FFFFFF"/>
                </a:solidFill>
                <a:latin typeface="Calibri"/>
              </a:rPr>
              <a:t>R² ↑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0241280" y="1234440"/>
            <a:ext cx="1783080" cy="457200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 noProof="0" dirty="0"/>
          </a:p>
        </p:txBody>
      </p:sp>
      <p:sp>
        <p:nvSpPr>
          <p:cNvPr id="16" name="TextBox 15"/>
          <p:cNvSpPr txBox="1"/>
          <p:nvPr/>
        </p:nvSpPr>
        <p:spPr>
          <a:xfrm>
            <a:off x="10332719" y="1280160"/>
            <a:ext cx="1691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AR" sz="1300" b="1" i="0" noProof="0" dirty="0">
                <a:solidFill>
                  <a:srgbClr val="FFFFFF"/>
                </a:solidFill>
                <a:latin typeface="Calibri"/>
              </a:rPr>
              <a:t>Ranking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65760" y="4253332"/>
            <a:ext cx="2468880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CCDD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 noProof="0" dirty="0"/>
          </a:p>
        </p:txBody>
      </p:sp>
      <p:sp>
        <p:nvSpPr>
          <p:cNvPr id="18" name="TextBox 17"/>
          <p:cNvSpPr txBox="1"/>
          <p:nvPr/>
        </p:nvSpPr>
        <p:spPr>
          <a:xfrm>
            <a:off x="457200" y="4417924"/>
            <a:ext cx="2331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AR" sz="1300" b="0" i="0" noProof="0" dirty="0">
                <a:solidFill>
                  <a:srgbClr val="1E293B"/>
                </a:solidFill>
                <a:latin typeface="Calibri"/>
              </a:rPr>
              <a:t>Regresión Lineal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926080" y="4253332"/>
            <a:ext cx="2468880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CCDD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 noProof="0" dirty="0"/>
          </a:p>
        </p:txBody>
      </p:sp>
      <p:sp>
        <p:nvSpPr>
          <p:cNvPr id="20" name="TextBox 19"/>
          <p:cNvSpPr txBox="1"/>
          <p:nvPr/>
        </p:nvSpPr>
        <p:spPr>
          <a:xfrm>
            <a:off x="3017520" y="4417924"/>
            <a:ext cx="2331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AR" sz="1300" b="0" i="0" noProof="0" dirty="0">
                <a:solidFill>
                  <a:srgbClr val="1E293B"/>
                </a:solidFill>
                <a:latin typeface="Calibri"/>
              </a:rPr>
              <a:t>39.70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486400" y="4253332"/>
            <a:ext cx="2468880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CCDD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 noProof="0" dirty="0"/>
          </a:p>
        </p:txBody>
      </p:sp>
      <p:sp>
        <p:nvSpPr>
          <p:cNvPr id="22" name="TextBox 21"/>
          <p:cNvSpPr txBox="1"/>
          <p:nvPr/>
        </p:nvSpPr>
        <p:spPr>
          <a:xfrm>
            <a:off x="5577840" y="4417924"/>
            <a:ext cx="2331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AR" sz="1300" b="0" i="0" noProof="0" dirty="0">
                <a:solidFill>
                  <a:srgbClr val="1E293B"/>
                </a:solidFill>
                <a:latin typeface="Calibri"/>
              </a:rPr>
              <a:t>30.54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046720" y="4253332"/>
            <a:ext cx="2103120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CCDD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 noProof="0" dirty="0"/>
          </a:p>
        </p:txBody>
      </p:sp>
      <p:sp>
        <p:nvSpPr>
          <p:cNvPr id="24" name="TextBox 23"/>
          <p:cNvSpPr txBox="1"/>
          <p:nvPr/>
        </p:nvSpPr>
        <p:spPr>
          <a:xfrm>
            <a:off x="8138160" y="4417924"/>
            <a:ext cx="1965960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AR" sz="1300" b="0" i="0" noProof="0" dirty="0">
                <a:solidFill>
                  <a:srgbClr val="1E293B"/>
                </a:solidFill>
                <a:latin typeface="Calibri"/>
              </a:rPr>
              <a:t>0.6550</a:t>
            </a:r>
          </a:p>
        </p:txBody>
      </p:sp>
      <p:sp>
        <p:nvSpPr>
          <p:cNvPr id="25" name="Rectangle 24"/>
          <p:cNvSpPr/>
          <p:nvPr/>
        </p:nvSpPr>
        <p:spPr>
          <a:xfrm>
            <a:off x="10241280" y="4253332"/>
            <a:ext cx="1783080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CCDD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 noProof="0" dirty="0"/>
          </a:p>
        </p:txBody>
      </p:sp>
      <p:sp>
        <p:nvSpPr>
          <p:cNvPr id="26" name="TextBox 25"/>
          <p:cNvSpPr txBox="1"/>
          <p:nvPr/>
        </p:nvSpPr>
        <p:spPr>
          <a:xfrm>
            <a:off x="10332719" y="4417924"/>
            <a:ext cx="1645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AR" sz="1300" b="0" i="0" noProof="0" dirty="0">
                <a:solidFill>
                  <a:srgbClr val="1E293B"/>
                </a:solidFill>
                <a:latin typeface="Calibri"/>
              </a:rPr>
              <a:t>4°</a:t>
            </a:r>
          </a:p>
        </p:txBody>
      </p:sp>
      <p:sp>
        <p:nvSpPr>
          <p:cNvPr id="58" name="Rectangle 57"/>
          <p:cNvSpPr/>
          <p:nvPr/>
        </p:nvSpPr>
        <p:spPr>
          <a:xfrm>
            <a:off x="365760" y="5166360"/>
            <a:ext cx="11430000" cy="1005840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 noProof="0" dirty="0"/>
          </a:p>
        </p:txBody>
      </p:sp>
      <p:sp>
        <p:nvSpPr>
          <p:cNvPr id="59" name="TextBox 58"/>
          <p:cNvSpPr txBox="1"/>
          <p:nvPr/>
        </p:nvSpPr>
        <p:spPr>
          <a:xfrm>
            <a:off x="1049518" y="5257800"/>
            <a:ext cx="73152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s-AR" sz="1600" b="1" i="0" noProof="0" dirty="0">
                <a:solidFill>
                  <a:srgbClr val="02C39A"/>
                </a:solidFill>
                <a:latin typeface="Calibri"/>
              </a:rPr>
              <a:t>MEJOR MODELO:  Random Forest Optimizado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640080" y="566928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s-AR" sz="1300" b="0" i="0" noProof="0" dirty="0">
                <a:solidFill>
                  <a:srgbClr val="FFFFFF"/>
                </a:solidFill>
                <a:latin typeface="Calibri"/>
              </a:rPr>
              <a:t>RMSE: 35.62  ·  MAE: 25.27  ·  R²: 0.722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8686800" y="5257800"/>
            <a:ext cx="2743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AR" sz="1400" b="1" i="0" noProof="0" dirty="0">
                <a:solidFill>
                  <a:srgbClr val="02C39A"/>
                </a:solidFill>
                <a:latin typeface="Calibri"/>
              </a:rPr>
              <a:t>Explica el 72%
de la variabilidad</a:t>
            </a:r>
          </a:p>
        </p:txBody>
      </p:sp>
      <p:sp>
        <p:nvSpPr>
          <p:cNvPr id="37" name="Rectangle 36"/>
          <p:cNvSpPr/>
          <p:nvPr/>
        </p:nvSpPr>
        <p:spPr>
          <a:xfrm>
            <a:off x="365760" y="1777618"/>
            <a:ext cx="2468880" cy="731520"/>
          </a:xfrm>
          <a:prstGeom prst="rect">
            <a:avLst/>
          </a:prstGeom>
          <a:solidFill>
            <a:srgbClr val="E8F6F3"/>
          </a:solidFill>
          <a:ln w="12700">
            <a:solidFill>
              <a:srgbClr val="CCDD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 noProof="0" dirty="0"/>
          </a:p>
        </p:txBody>
      </p:sp>
      <p:sp>
        <p:nvSpPr>
          <p:cNvPr id="38" name="TextBox 37"/>
          <p:cNvSpPr txBox="1"/>
          <p:nvPr/>
        </p:nvSpPr>
        <p:spPr>
          <a:xfrm>
            <a:off x="457200" y="1942210"/>
            <a:ext cx="2331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AR" sz="1300" b="1" i="0" noProof="0" dirty="0">
                <a:solidFill>
                  <a:srgbClr val="065A82"/>
                </a:solidFill>
                <a:latin typeface="Calibri"/>
              </a:rPr>
              <a:t>Random Forest Optimizado</a:t>
            </a:r>
          </a:p>
        </p:txBody>
      </p:sp>
      <p:sp>
        <p:nvSpPr>
          <p:cNvPr id="39" name="Rectangle 38"/>
          <p:cNvSpPr/>
          <p:nvPr/>
        </p:nvSpPr>
        <p:spPr>
          <a:xfrm>
            <a:off x="2926080" y="1777618"/>
            <a:ext cx="2468880" cy="731520"/>
          </a:xfrm>
          <a:prstGeom prst="rect">
            <a:avLst/>
          </a:prstGeom>
          <a:solidFill>
            <a:srgbClr val="E8F6F3"/>
          </a:solidFill>
          <a:ln w="12700">
            <a:solidFill>
              <a:srgbClr val="CCDD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 noProof="0" dirty="0"/>
          </a:p>
        </p:txBody>
      </p:sp>
      <p:sp>
        <p:nvSpPr>
          <p:cNvPr id="40" name="TextBox 39"/>
          <p:cNvSpPr txBox="1"/>
          <p:nvPr/>
        </p:nvSpPr>
        <p:spPr>
          <a:xfrm>
            <a:off x="3017520" y="1942210"/>
            <a:ext cx="2331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AR" sz="1300" b="1" i="0" noProof="0" dirty="0">
                <a:solidFill>
                  <a:srgbClr val="065A82"/>
                </a:solidFill>
                <a:latin typeface="Calibri"/>
              </a:rPr>
              <a:t>35.62</a:t>
            </a:r>
          </a:p>
        </p:txBody>
      </p:sp>
      <p:sp>
        <p:nvSpPr>
          <p:cNvPr id="41" name="Rectangle 40"/>
          <p:cNvSpPr/>
          <p:nvPr/>
        </p:nvSpPr>
        <p:spPr>
          <a:xfrm>
            <a:off x="5486400" y="1777618"/>
            <a:ext cx="2468880" cy="731520"/>
          </a:xfrm>
          <a:prstGeom prst="rect">
            <a:avLst/>
          </a:prstGeom>
          <a:solidFill>
            <a:srgbClr val="E8F6F3"/>
          </a:solidFill>
          <a:ln w="12700">
            <a:solidFill>
              <a:srgbClr val="CCDD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 noProof="0" dirty="0"/>
          </a:p>
        </p:txBody>
      </p:sp>
      <p:sp>
        <p:nvSpPr>
          <p:cNvPr id="42" name="TextBox 41"/>
          <p:cNvSpPr txBox="1"/>
          <p:nvPr/>
        </p:nvSpPr>
        <p:spPr>
          <a:xfrm>
            <a:off x="5577840" y="1942210"/>
            <a:ext cx="2331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AR" sz="1300" b="1" i="0" noProof="0" dirty="0">
                <a:solidFill>
                  <a:srgbClr val="065A82"/>
                </a:solidFill>
                <a:latin typeface="Calibri"/>
              </a:rPr>
              <a:t>25.27</a:t>
            </a:r>
          </a:p>
        </p:txBody>
      </p:sp>
      <p:sp>
        <p:nvSpPr>
          <p:cNvPr id="43" name="Rectangle 42"/>
          <p:cNvSpPr/>
          <p:nvPr/>
        </p:nvSpPr>
        <p:spPr>
          <a:xfrm>
            <a:off x="8046720" y="1777618"/>
            <a:ext cx="2103120" cy="731520"/>
          </a:xfrm>
          <a:prstGeom prst="rect">
            <a:avLst/>
          </a:prstGeom>
          <a:solidFill>
            <a:srgbClr val="E8F6F3"/>
          </a:solidFill>
          <a:ln w="12700">
            <a:solidFill>
              <a:srgbClr val="CCDD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 noProof="0" dirty="0"/>
          </a:p>
        </p:txBody>
      </p:sp>
      <p:sp>
        <p:nvSpPr>
          <p:cNvPr id="44" name="TextBox 43"/>
          <p:cNvSpPr txBox="1"/>
          <p:nvPr/>
        </p:nvSpPr>
        <p:spPr>
          <a:xfrm>
            <a:off x="8138160" y="1942210"/>
            <a:ext cx="1965960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AR" sz="1300" b="1" i="0" noProof="0" dirty="0">
                <a:solidFill>
                  <a:srgbClr val="065A82"/>
                </a:solidFill>
                <a:latin typeface="Calibri"/>
              </a:rPr>
              <a:t>0.7223</a:t>
            </a:r>
          </a:p>
        </p:txBody>
      </p:sp>
      <p:sp>
        <p:nvSpPr>
          <p:cNvPr id="45" name="Rectangle 44"/>
          <p:cNvSpPr/>
          <p:nvPr/>
        </p:nvSpPr>
        <p:spPr>
          <a:xfrm>
            <a:off x="10241280" y="1777618"/>
            <a:ext cx="1783080" cy="731520"/>
          </a:xfrm>
          <a:prstGeom prst="rect">
            <a:avLst/>
          </a:prstGeom>
          <a:solidFill>
            <a:srgbClr val="E8F6F3"/>
          </a:solidFill>
          <a:ln w="12700">
            <a:solidFill>
              <a:srgbClr val="CCDD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 noProof="0" dirty="0"/>
          </a:p>
        </p:txBody>
      </p:sp>
      <p:sp>
        <p:nvSpPr>
          <p:cNvPr id="46" name="Rectangle 45"/>
          <p:cNvSpPr/>
          <p:nvPr/>
        </p:nvSpPr>
        <p:spPr>
          <a:xfrm>
            <a:off x="10241280" y="1777618"/>
            <a:ext cx="1783080" cy="731520"/>
          </a:xfrm>
          <a:prstGeom prst="rect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 noProof="0" dirty="0"/>
          </a:p>
        </p:txBody>
      </p:sp>
      <p:sp>
        <p:nvSpPr>
          <p:cNvPr id="47" name="TextBox 46"/>
          <p:cNvSpPr txBox="1"/>
          <p:nvPr/>
        </p:nvSpPr>
        <p:spPr>
          <a:xfrm>
            <a:off x="10332719" y="1942210"/>
            <a:ext cx="1645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AR" sz="1300" b="1" i="0" noProof="0" dirty="0">
                <a:solidFill>
                  <a:srgbClr val="FFFFFF"/>
                </a:solidFill>
                <a:latin typeface="Calibri"/>
              </a:rPr>
              <a:t>1°</a:t>
            </a:r>
          </a:p>
        </p:txBody>
      </p:sp>
      <p:sp>
        <p:nvSpPr>
          <p:cNvPr id="48" name="Rectangle 47"/>
          <p:cNvSpPr/>
          <p:nvPr/>
        </p:nvSpPr>
        <p:spPr>
          <a:xfrm>
            <a:off x="365760" y="2600578"/>
            <a:ext cx="2468880" cy="731520"/>
          </a:xfrm>
          <a:prstGeom prst="rect">
            <a:avLst/>
          </a:prstGeom>
          <a:solidFill>
            <a:srgbClr val="F5F8FF"/>
          </a:solidFill>
          <a:ln w="12700">
            <a:solidFill>
              <a:srgbClr val="CCDD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 noProof="0" dirty="0"/>
          </a:p>
        </p:txBody>
      </p:sp>
      <p:sp>
        <p:nvSpPr>
          <p:cNvPr id="49" name="TextBox 48"/>
          <p:cNvSpPr txBox="1"/>
          <p:nvPr/>
        </p:nvSpPr>
        <p:spPr>
          <a:xfrm>
            <a:off x="457200" y="2765170"/>
            <a:ext cx="2331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AR" sz="1300" b="0" i="0" noProof="0" dirty="0" err="1">
                <a:solidFill>
                  <a:srgbClr val="1E293B"/>
                </a:solidFill>
                <a:latin typeface="Calibri"/>
              </a:rPr>
              <a:t>XGBoost</a:t>
            </a:r>
            <a:endParaRPr lang="es-AR" sz="1300" b="0" i="0" noProof="0" dirty="0">
              <a:solidFill>
                <a:srgbClr val="1E293B"/>
              </a:solidFill>
              <a:latin typeface="Calibri"/>
            </a:endParaRPr>
          </a:p>
        </p:txBody>
      </p:sp>
      <p:sp>
        <p:nvSpPr>
          <p:cNvPr id="50" name="Rectangle 49"/>
          <p:cNvSpPr/>
          <p:nvPr/>
        </p:nvSpPr>
        <p:spPr>
          <a:xfrm>
            <a:off x="2926080" y="2600578"/>
            <a:ext cx="2468880" cy="731520"/>
          </a:xfrm>
          <a:prstGeom prst="rect">
            <a:avLst/>
          </a:prstGeom>
          <a:solidFill>
            <a:srgbClr val="F5F8FF"/>
          </a:solidFill>
          <a:ln w="12700">
            <a:solidFill>
              <a:srgbClr val="CCDD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 noProof="0" dirty="0"/>
          </a:p>
        </p:txBody>
      </p:sp>
      <p:sp>
        <p:nvSpPr>
          <p:cNvPr id="51" name="TextBox 50"/>
          <p:cNvSpPr txBox="1"/>
          <p:nvPr/>
        </p:nvSpPr>
        <p:spPr>
          <a:xfrm>
            <a:off x="3017520" y="2765170"/>
            <a:ext cx="2331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AR" sz="1300" b="0" i="0" noProof="0" dirty="0">
                <a:solidFill>
                  <a:srgbClr val="1E293B"/>
                </a:solidFill>
                <a:latin typeface="Calibri"/>
              </a:rPr>
              <a:t>35.64</a:t>
            </a:r>
          </a:p>
        </p:txBody>
      </p:sp>
      <p:sp>
        <p:nvSpPr>
          <p:cNvPr id="52" name="Rectangle 51"/>
          <p:cNvSpPr/>
          <p:nvPr/>
        </p:nvSpPr>
        <p:spPr>
          <a:xfrm>
            <a:off x="5486400" y="2600578"/>
            <a:ext cx="2468880" cy="731520"/>
          </a:xfrm>
          <a:prstGeom prst="rect">
            <a:avLst/>
          </a:prstGeom>
          <a:solidFill>
            <a:srgbClr val="F5F8FF"/>
          </a:solidFill>
          <a:ln w="12700">
            <a:solidFill>
              <a:srgbClr val="CCDD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 noProof="0" dirty="0"/>
          </a:p>
        </p:txBody>
      </p:sp>
      <p:sp>
        <p:nvSpPr>
          <p:cNvPr id="53" name="TextBox 52"/>
          <p:cNvSpPr txBox="1"/>
          <p:nvPr/>
        </p:nvSpPr>
        <p:spPr>
          <a:xfrm>
            <a:off x="5577840" y="2765170"/>
            <a:ext cx="2331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AR" sz="1300" b="0" i="0" noProof="0" dirty="0">
                <a:solidFill>
                  <a:srgbClr val="1E293B"/>
                </a:solidFill>
                <a:latin typeface="Calibri"/>
              </a:rPr>
              <a:t>25.37</a:t>
            </a:r>
          </a:p>
        </p:txBody>
      </p:sp>
      <p:sp>
        <p:nvSpPr>
          <p:cNvPr id="54" name="Rectangle 53"/>
          <p:cNvSpPr/>
          <p:nvPr/>
        </p:nvSpPr>
        <p:spPr>
          <a:xfrm>
            <a:off x="8046720" y="2600578"/>
            <a:ext cx="2103120" cy="731520"/>
          </a:xfrm>
          <a:prstGeom prst="rect">
            <a:avLst/>
          </a:prstGeom>
          <a:solidFill>
            <a:srgbClr val="F5F8FF"/>
          </a:solidFill>
          <a:ln w="12700">
            <a:solidFill>
              <a:srgbClr val="CCDD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 noProof="0" dirty="0"/>
          </a:p>
        </p:txBody>
      </p:sp>
      <p:sp>
        <p:nvSpPr>
          <p:cNvPr id="55" name="TextBox 54"/>
          <p:cNvSpPr txBox="1"/>
          <p:nvPr/>
        </p:nvSpPr>
        <p:spPr>
          <a:xfrm>
            <a:off x="8138160" y="2765170"/>
            <a:ext cx="1965960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AR" sz="1300" b="0" i="0" noProof="0" dirty="0">
                <a:solidFill>
                  <a:srgbClr val="1E293B"/>
                </a:solidFill>
                <a:latin typeface="Calibri"/>
              </a:rPr>
              <a:t>0.7221</a:t>
            </a:r>
          </a:p>
        </p:txBody>
      </p:sp>
      <p:sp>
        <p:nvSpPr>
          <p:cNvPr id="56" name="Rectangle 55"/>
          <p:cNvSpPr/>
          <p:nvPr/>
        </p:nvSpPr>
        <p:spPr>
          <a:xfrm>
            <a:off x="10241280" y="2600578"/>
            <a:ext cx="1783080" cy="731520"/>
          </a:xfrm>
          <a:prstGeom prst="rect">
            <a:avLst/>
          </a:prstGeom>
          <a:solidFill>
            <a:srgbClr val="F5F8FF"/>
          </a:solidFill>
          <a:ln w="12700">
            <a:solidFill>
              <a:srgbClr val="CCDD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 noProof="0" dirty="0"/>
          </a:p>
        </p:txBody>
      </p:sp>
      <p:sp>
        <p:nvSpPr>
          <p:cNvPr id="57" name="TextBox 56"/>
          <p:cNvSpPr txBox="1"/>
          <p:nvPr/>
        </p:nvSpPr>
        <p:spPr>
          <a:xfrm>
            <a:off x="10332719" y="2765170"/>
            <a:ext cx="1645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AR" sz="1300" b="0" i="0" noProof="0" dirty="0">
                <a:solidFill>
                  <a:srgbClr val="1E293B"/>
                </a:solidFill>
                <a:latin typeface="Calibri"/>
              </a:rPr>
              <a:t>2°</a:t>
            </a:r>
          </a:p>
        </p:txBody>
      </p:sp>
      <p:pic>
        <p:nvPicPr>
          <p:cNvPr id="3074" name="Picture 2" descr="Icono 1st lugar medalla">
            <a:extLst>
              <a:ext uri="{FF2B5EF4-FFF2-40B4-BE49-F238E27FC236}">
                <a16:creationId xmlns:a16="http://schemas.microsoft.com/office/drawing/2014/main" id="{0000E476-FD8E-EA95-7028-084FD8AC688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327445" y="1910002"/>
            <a:ext cx="432000" cy="43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6" name="Picture 4" descr="Icono 2º lugar medalla">
            <a:extLst>
              <a:ext uri="{FF2B5EF4-FFF2-40B4-BE49-F238E27FC236}">
                <a16:creationId xmlns:a16="http://schemas.microsoft.com/office/drawing/2014/main" id="{D332D8B0-EFAF-1ED4-0BED-32E1F68F854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307484" y="2735581"/>
            <a:ext cx="432000" cy="43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7" name="Rectangle 26"/>
          <p:cNvSpPr/>
          <p:nvPr/>
        </p:nvSpPr>
        <p:spPr>
          <a:xfrm>
            <a:off x="365760" y="3424913"/>
            <a:ext cx="2468880" cy="731520"/>
          </a:xfrm>
          <a:prstGeom prst="rect">
            <a:avLst/>
          </a:prstGeom>
          <a:solidFill>
            <a:srgbClr val="F5F8FF"/>
          </a:solidFill>
          <a:ln w="12700">
            <a:solidFill>
              <a:srgbClr val="CCDD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 noProof="0" dirty="0"/>
          </a:p>
        </p:txBody>
      </p:sp>
      <p:sp>
        <p:nvSpPr>
          <p:cNvPr id="28" name="TextBox 27"/>
          <p:cNvSpPr txBox="1"/>
          <p:nvPr/>
        </p:nvSpPr>
        <p:spPr>
          <a:xfrm>
            <a:off x="457200" y="3589505"/>
            <a:ext cx="2331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AR" sz="1300" b="0" i="0" noProof="0" dirty="0">
                <a:solidFill>
                  <a:srgbClr val="1E293B"/>
                </a:solidFill>
                <a:latin typeface="Calibri"/>
              </a:rPr>
              <a:t>Random Forest</a:t>
            </a:r>
          </a:p>
        </p:txBody>
      </p:sp>
      <p:sp>
        <p:nvSpPr>
          <p:cNvPr id="29" name="Rectangle 28"/>
          <p:cNvSpPr/>
          <p:nvPr/>
        </p:nvSpPr>
        <p:spPr>
          <a:xfrm>
            <a:off x="2926080" y="3424913"/>
            <a:ext cx="2468880" cy="731520"/>
          </a:xfrm>
          <a:prstGeom prst="rect">
            <a:avLst/>
          </a:prstGeom>
          <a:solidFill>
            <a:srgbClr val="F5F8FF"/>
          </a:solidFill>
          <a:ln w="12700">
            <a:solidFill>
              <a:srgbClr val="CCDD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 noProof="0" dirty="0"/>
          </a:p>
        </p:txBody>
      </p:sp>
      <p:sp>
        <p:nvSpPr>
          <p:cNvPr id="30" name="TextBox 29"/>
          <p:cNvSpPr txBox="1"/>
          <p:nvPr/>
        </p:nvSpPr>
        <p:spPr>
          <a:xfrm>
            <a:off x="3017520" y="3589505"/>
            <a:ext cx="2331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AR" sz="1300" b="0" i="0" noProof="0" dirty="0">
                <a:solidFill>
                  <a:srgbClr val="1E293B"/>
                </a:solidFill>
                <a:latin typeface="Calibri"/>
              </a:rPr>
              <a:t>35.93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486400" y="3424913"/>
            <a:ext cx="2468880" cy="731520"/>
          </a:xfrm>
          <a:prstGeom prst="rect">
            <a:avLst/>
          </a:prstGeom>
          <a:solidFill>
            <a:srgbClr val="F5F8FF"/>
          </a:solidFill>
          <a:ln w="12700">
            <a:solidFill>
              <a:srgbClr val="CCDD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 noProof="0" dirty="0"/>
          </a:p>
        </p:txBody>
      </p:sp>
      <p:sp>
        <p:nvSpPr>
          <p:cNvPr id="32" name="TextBox 31"/>
          <p:cNvSpPr txBox="1"/>
          <p:nvPr/>
        </p:nvSpPr>
        <p:spPr>
          <a:xfrm>
            <a:off x="5577840" y="3589505"/>
            <a:ext cx="2331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AR" sz="1300" b="0" i="0" noProof="0" dirty="0">
                <a:solidFill>
                  <a:srgbClr val="1E293B"/>
                </a:solidFill>
                <a:latin typeface="Calibri"/>
              </a:rPr>
              <a:t>25.45</a:t>
            </a:r>
          </a:p>
        </p:txBody>
      </p:sp>
      <p:sp>
        <p:nvSpPr>
          <p:cNvPr id="33" name="Rectangle 32"/>
          <p:cNvSpPr/>
          <p:nvPr/>
        </p:nvSpPr>
        <p:spPr>
          <a:xfrm>
            <a:off x="8046720" y="3424913"/>
            <a:ext cx="2103120" cy="731520"/>
          </a:xfrm>
          <a:prstGeom prst="rect">
            <a:avLst/>
          </a:prstGeom>
          <a:solidFill>
            <a:srgbClr val="F5F8FF"/>
          </a:solidFill>
          <a:ln w="12700">
            <a:solidFill>
              <a:srgbClr val="CCDD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 noProof="0" dirty="0"/>
          </a:p>
        </p:txBody>
      </p:sp>
      <p:sp>
        <p:nvSpPr>
          <p:cNvPr id="34" name="TextBox 33"/>
          <p:cNvSpPr txBox="1"/>
          <p:nvPr/>
        </p:nvSpPr>
        <p:spPr>
          <a:xfrm>
            <a:off x="8138160" y="3589505"/>
            <a:ext cx="1965960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AR" sz="1300" b="0" i="0" noProof="0" dirty="0">
                <a:solidFill>
                  <a:srgbClr val="1E293B"/>
                </a:solidFill>
                <a:latin typeface="Calibri"/>
              </a:rPr>
              <a:t>0.7174</a:t>
            </a:r>
          </a:p>
        </p:txBody>
      </p:sp>
      <p:sp>
        <p:nvSpPr>
          <p:cNvPr id="35" name="Rectangle 34"/>
          <p:cNvSpPr/>
          <p:nvPr/>
        </p:nvSpPr>
        <p:spPr>
          <a:xfrm>
            <a:off x="10241280" y="3424913"/>
            <a:ext cx="1783080" cy="731520"/>
          </a:xfrm>
          <a:prstGeom prst="rect">
            <a:avLst/>
          </a:prstGeom>
          <a:solidFill>
            <a:srgbClr val="F5F8FF"/>
          </a:solidFill>
          <a:ln w="12700">
            <a:solidFill>
              <a:srgbClr val="CCDD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 noProof="0" dirty="0"/>
          </a:p>
        </p:txBody>
      </p:sp>
      <p:sp>
        <p:nvSpPr>
          <p:cNvPr id="36" name="TextBox 35"/>
          <p:cNvSpPr txBox="1"/>
          <p:nvPr/>
        </p:nvSpPr>
        <p:spPr>
          <a:xfrm>
            <a:off x="10332719" y="3589505"/>
            <a:ext cx="1645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AR" sz="1300" b="0" i="0" noProof="0" dirty="0">
                <a:solidFill>
                  <a:srgbClr val="1E293B"/>
                </a:solidFill>
                <a:latin typeface="Calibri"/>
              </a:rPr>
              <a:t>3°</a:t>
            </a:r>
          </a:p>
        </p:txBody>
      </p:sp>
      <p:pic>
        <p:nvPicPr>
          <p:cNvPr id="3078" name="Picture 6" descr="Icono 3º lugar medalla">
            <a:extLst>
              <a:ext uri="{FF2B5EF4-FFF2-40B4-BE49-F238E27FC236}">
                <a16:creationId xmlns:a16="http://schemas.microsoft.com/office/drawing/2014/main" id="{A8B81212-DBC4-E4CD-3F54-7B61713D49C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300662" y="3569470"/>
            <a:ext cx="432000" cy="43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075" name="TextBox 58">
            <a:extLst>
              <a:ext uri="{FF2B5EF4-FFF2-40B4-BE49-F238E27FC236}">
                <a16:creationId xmlns:a16="http://schemas.microsoft.com/office/drawing/2014/main" id="{92DAF34A-EC1E-831F-D558-0E665BF05388}"/>
              </a:ext>
            </a:extLst>
          </p:cNvPr>
          <p:cNvSpPr txBox="1"/>
          <p:nvPr/>
        </p:nvSpPr>
        <p:spPr>
          <a:xfrm>
            <a:off x="640080" y="5257800"/>
            <a:ext cx="408523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s-AR" sz="1600" b="1" i="0" noProof="0" dirty="0">
                <a:solidFill>
                  <a:srgbClr val="02C39A"/>
                </a:solidFill>
                <a:latin typeface="Calibri"/>
              </a:rPr>
              <a:t>🏆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0F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 noProof="0" dirty="0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 noProof="0" dirty="0"/>
          </a:p>
        </p:txBody>
      </p:sp>
      <p:sp>
        <p:nvSpPr>
          <p:cNvPr id="4" name="Rectangle 3"/>
          <p:cNvSpPr/>
          <p:nvPr/>
        </p:nvSpPr>
        <p:spPr>
          <a:xfrm>
            <a:off x="0" y="1005840"/>
            <a:ext cx="12188952" cy="45720"/>
          </a:xfrm>
          <a:prstGeom prst="rect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 noProof="0" dirty="0"/>
          </a:p>
        </p:txBody>
      </p:sp>
      <p:sp>
        <p:nvSpPr>
          <p:cNvPr id="5" name="TextBox 4"/>
          <p:cNvSpPr txBox="1"/>
          <p:nvPr/>
        </p:nvSpPr>
        <p:spPr>
          <a:xfrm>
            <a:off x="365760" y="13716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s-AR" sz="2800" b="1" i="0" noProof="0" dirty="0">
                <a:solidFill>
                  <a:srgbClr val="FFFFFF"/>
                </a:solidFill>
                <a:latin typeface="Calibri"/>
              </a:rPr>
              <a:t>Importancia de Variables — </a:t>
            </a:r>
            <a:r>
              <a:rPr lang="es-AR" sz="2800" b="1" i="0" noProof="0" dirty="0" err="1">
                <a:solidFill>
                  <a:srgbClr val="FFFFFF"/>
                </a:solidFill>
                <a:latin typeface="Calibri"/>
              </a:rPr>
              <a:t>Feature</a:t>
            </a:r>
            <a:r>
              <a:rPr lang="es-AR" sz="2800" b="1" i="0" noProof="0" dirty="0">
                <a:solidFill>
                  <a:srgbClr val="FFFFFF"/>
                </a:solidFill>
                <a:latin typeface="Calibri"/>
              </a:rPr>
              <a:t> </a:t>
            </a:r>
            <a:r>
              <a:rPr lang="es-AR" sz="2800" b="1" i="0" noProof="0" dirty="0" err="1">
                <a:solidFill>
                  <a:srgbClr val="FFFFFF"/>
                </a:solidFill>
                <a:latin typeface="Calibri"/>
              </a:rPr>
              <a:t>Importance</a:t>
            </a:r>
            <a:endParaRPr lang="es-AR" sz="2800" b="1" i="0" noProof="0" dirty="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365760" y="73152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s-AR" sz="1300" b="0" i="1" noProof="0" dirty="0">
                <a:solidFill>
                  <a:srgbClr val="B0D0E8"/>
                </a:solidFill>
                <a:latin typeface="Calibri"/>
              </a:rPr>
              <a:t>Top variables del modelo Random Forest Optimizado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1280160"/>
            <a:ext cx="11612880" cy="420623"/>
          </a:xfrm>
          <a:prstGeom prst="rect">
            <a:avLst/>
          </a:prstGeom>
          <a:solidFill>
            <a:srgbClr val="F5F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 noProof="0" dirty="0"/>
          </a:p>
        </p:txBody>
      </p:sp>
      <p:sp>
        <p:nvSpPr>
          <p:cNvPr id="8" name="TextBox 7"/>
          <p:cNvSpPr txBox="1"/>
          <p:nvPr/>
        </p:nvSpPr>
        <p:spPr>
          <a:xfrm>
            <a:off x="320040" y="1335024"/>
            <a:ext cx="1645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s-AR" sz="1100" b="1" i="0" noProof="0" dirty="0">
                <a:solidFill>
                  <a:srgbClr val="065A82"/>
                </a:solidFill>
                <a:latin typeface="Calibri"/>
              </a:rPr>
              <a:t>ciclo</a:t>
            </a:r>
          </a:p>
        </p:txBody>
      </p:sp>
      <p:sp>
        <p:nvSpPr>
          <p:cNvPr id="9" name="Rectangle 8"/>
          <p:cNvSpPr/>
          <p:nvPr/>
        </p:nvSpPr>
        <p:spPr>
          <a:xfrm>
            <a:off x="2011680" y="1371600"/>
            <a:ext cx="6400800" cy="246888"/>
          </a:xfrm>
          <a:prstGeom prst="rect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 noProof="0" dirty="0"/>
          </a:p>
        </p:txBody>
      </p:sp>
      <p:sp>
        <p:nvSpPr>
          <p:cNvPr id="10" name="TextBox 9"/>
          <p:cNvSpPr txBox="1"/>
          <p:nvPr/>
        </p:nvSpPr>
        <p:spPr>
          <a:xfrm>
            <a:off x="8458200" y="1353312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s-AR" sz="1000" b="1" i="0" noProof="0" dirty="0">
                <a:solidFill>
                  <a:srgbClr val="065A82"/>
                </a:solidFill>
                <a:latin typeface="Calibri"/>
              </a:rPr>
              <a:t>38%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778240" y="1335024"/>
            <a:ext cx="3017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s-AR" sz="1000" b="0" i="1" noProof="0" dirty="0">
                <a:solidFill>
                  <a:srgbClr val="64748B"/>
                </a:solidFill>
                <a:latin typeface="Calibri"/>
              </a:rPr>
              <a:t>Ciclo de operación acumulado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74320" y="1728216"/>
            <a:ext cx="11612880" cy="420623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 noProof="0" dirty="0"/>
          </a:p>
        </p:txBody>
      </p:sp>
      <p:sp>
        <p:nvSpPr>
          <p:cNvPr id="13" name="TextBox 12"/>
          <p:cNvSpPr txBox="1"/>
          <p:nvPr/>
        </p:nvSpPr>
        <p:spPr>
          <a:xfrm>
            <a:off x="320040" y="1783080"/>
            <a:ext cx="1645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s-AR" sz="1100" b="1" i="0" noProof="0" dirty="0">
                <a:solidFill>
                  <a:srgbClr val="065A82"/>
                </a:solidFill>
                <a:latin typeface="Calibri"/>
              </a:rPr>
              <a:t>sensor_11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011680" y="1819656"/>
            <a:ext cx="3031957" cy="246888"/>
          </a:xfrm>
          <a:prstGeom prst="rect">
            <a:avLst/>
          </a:prstGeom>
          <a:solidFill>
            <a:srgbClr val="1C7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 noProof="0" dirty="0"/>
          </a:p>
        </p:txBody>
      </p:sp>
      <p:sp>
        <p:nvSpPr>
          <p:cNvPr id="15" name="TextBox 14"/>
          <p:cNvSpPr txBox="1"/>
          <p:nvPr/>
        </p:nvSpPr>
        <p:spPr>
          <a:xfrm>
            <a:off x="5089357" y="1801368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s-AR" sz="1000" b="1" i="0" noProof="0" dirty="0">
                <a:solidFill>
                  <a:srgbClr val="065A82"/>
                </a:solidFill>
                <a:latin typeface="Calibri"/>
              </a:rPr>
              <a:t>18%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778240" y="1783080"/>
            <a:ext cx="301752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s-AR" sz="1000" b="0" i="1" noProof="0" dirty="0">
                <a:solidFill>
                  <a:srgbClr val="64748B"/>
                </a:solidFill>
                <a:latin typeface="Calibri"/>
              </a:rPr>
              <a:t>Temperatura ingreso (inventado)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74320" y="2176272"/>
            <a:ext cx="11612880" cy="420623"/>
          </a:xfrm>
          <a:prstGeom prst="rect">
            <a:avLst/>
          </a:prstGeom>
          <a:solidFill>
            <a:srgbClr val="F5F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 noProof="0" dirty="0"/>
          </a:p>
        </p:txBody>
      </p:sp>
      <p:sp>
        <p:nvSpPr>
          <p:cNvPr id="18" name="TextBox 17"/>
          <p:cNvSpPr txBox="1"/>
          <p:nvPr/>
        </p:nvSpPr>
        <p:spPr>
          <a:xfrm>
            <a:off x="320040" y="2231136"/>
            <a:ext cx="1645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s-AR" sz="1100" b="1" i="0" noProof="0" dirty="0">
                <a:solidFill>
                  <a:srgbClr val="065A82"/>
                </a:solidFill>
                <a:latin typeface="Calibri"/>
              </a:rPr>
              <a:t>sensor_4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011680" y="2267712"/>
            <a:ext cx="2189747" cy="246888"/>
          </a:xfrm>
          <a:prstGeom prst="rect">
            <a:avLst/>
          </a:prstGeom>
          <a:solidFill>
            <a:srgbClr val="1C7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 noProof="0" dirty="0"/>
          </a:p>
        </p:txBody>
      </p:sp>
      <p:sp>
        <p:nvSpPr>
          <p:cNvPr id="20" name="TextBox 19"/>
          <p:cNvSpPr txBox="1"/>
          <p:nvPr/>
        </p:nvSpPr>
        <p:spPr>
          <a:xfrm>
            <a:off x="4247147" y="2249424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s-AR" sz="1000" b="1" i="0" noProof="0" dirty="0">
                <a:solidFill>
                  <a:srgbClr val="065A82"/>
                </a:solidFill>
                <a:latin typeface="Calibri"/>
              </a:rPr>
              <a:t>13%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778240" y="2231136"/>
            <a:ext cx="301752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AR" sz="1000" i="1" noProof="0" dirty="0">
                <a:solidFill>
                  <a:srgbClr val="64748B"/>
                </a:solidFill>
                <a:latin typeface="Calibri"/>
              </a:rPr>
              <a:t>P</a:t>
            </a:r>
            <a:r>
              <a:rPr lang="es-AR" sz="1000" b="0" i="1" noProof="0" dirty="0">
                <a:solidFill>
                  <a:srgbClr val="64748B"/>
                </a:solidFill>
                <a:latin typeface="Calibri"/>
              </a:rPr>
              <a:t>resión </a:t>
            </a:r>
            <a:r>
              <a:rPr lang="es-AR" sz="1000" i="1" noProof="0" dirty="0">
                <a:solidFill>
                  <a:srgbClr val="64748B"/>
                </a:solidFill>
              </a:rPr>
              <a:t>(inventado)</a:t>
            </a:r>
            <a:endParaRPr lang="es-AR" sz="1000" b="0" i="1" noProof="0" dirty="0">
              <a:solidFill>
                <a:srgbClr val="64748B"/>
              </a:solidFill>
              <a:latin typeface="Calibri"/>
            </a:endParaRPr>
          </a:p>
        </p:txBody>
      </p:sp>
      <p:sp>
        <p:nvSpPr>
          <p:cNvPr id="22" name="Rectangle 21"/>
          <p:cNvSpPr/>
          <p:nvPr/>
        </p:nvSpPr>
        <p:spPr>
          <a:xfrm>
            <a:off x="274320" y="2624328"/>
            <a:ext cx="11612880" cy="420623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 noProof="0" dirty="0"/>
          </a:p>
        </p:txBody>
      </p:sp>
      <p:sp>
        <p:nvSpPr>
          <p:cNvPr id="23" name="TextBox 22"/>
          <p:cNvSpPr txBox="1"/>
          <p:nvPr/>
        </p:nvSpPr>
        <p:spPr>
          <a:xfrm>
            <a:off x="320040" y="2679192"/>
            <a:ext cx="1645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s-AR" sz="1100" b="1" i="0" noProof="0" dirty="0">
                <a:solidFill>
                  <a:srgbClr val="065A82"/>
                </a:solidFill>
                <a:latin typeface="Calibri"/>
              </a:rPr>
              <a:t>sensor_12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011680" y="2715768"/>
            <a:ext cx="1515978" cy="246888"/>
          </a:xfrm>
          <a:prstGeom prst="rect">
            <a:avLst/>
          </a:prstGeom>
          <a:solidFill>
            <a:srgbClr val="1C7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 noProof="0" dirty="0"/>
          </a:p>
        </p:txBody>
      </p:sp>
      <p:sp>
        <p:nvSpPr>
          <p:cNvPr id="25" name="TextBox 24"/>
          <p:cNvSpPr txBox="1"/>
          <p:nvPr/>
        </p:nvSpPr>
        <p:spPr>
          <a:xfrm>
            <a:off x="3573378" y="269748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s-AR" sz="1000" b="1" i="0" noProof="0" dirty="0">
                <a:solidFill>
                  <a:srgbClr val="065A82"/>
                </a:solidFill>
                <a:latin typeface="Calibri"/>
              </a:rPr>
              <a:t>9%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778240" y="2679192"/>
            <a:ext cx="301752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AR" sz="1000" i="1" noProof="0" dirty="0">
                <a:solidFill>
                  <a:srgbClr val="64748B"/>
                </a:solidFill>
                <a:latin typeface="Calibri"/>
              </a:rPr>
              <a:t>Combustión</a:t>
            </a:r>
            <a:r>
              <a:rPr lang="es-AR" sz="1000" i="1" noProof="0" dirty="0">
                <a:solidFill>
                  <a:srgbClr val="64748B"/>
                </a:solidFill>
              </a:rPr>
              <a:t> (inventado)</a:t>
            </a:r>
            <a:endParaRPr lang="es-AR" sz="1000" b="0" i="1" noProof="0" dirty="0">
              <a:solidFill>
                <a:srgbClr val="64748B"/>
              </a:solidFill>
              <a:latin typeface="Calibri"/>
            </a:endParaRPr>
          </a:p>
        </p:txBody>
      </p:sp>
      <p:sp>
        <p:nvSpPr>
          <p:cNvPr id="27" name="Rectangle 26"/>
          <p:cNvSpPr/>
          <p:nvPr/>
        </p:nvSpPr>
        <p:spPr>
          <a:xfrm>
            <a:off x="274320" y="3072384"/>
            <a:ext cx="11612880" cy="420623"/>
          </a:xfrm>
          <a:prstGeom prst="rect">
            <a:avLst/>
          </a:prstGeom>
          <a:solidFill>
            <a:srgbClr val="F5F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 noProof="0" dirty="0"/>
          </a:p>
        </p:txBody>
      </p:sp>
      <p:sp>
        <p:nvSpPr>
          <p:cNvPr id="28" name="TextBox 27"/>
          <p:cNvSpPr txBox="1"/>
          <p:nvPr/>
        </p:nvSpPr>
        <p:spPr>
          <a:xfrm>
            <a:off x="320040" y="3127248"/>
            <a:ext cx="1645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s-AR" sz="1100" b="1" i="0" noProof="0" dirty="0">
                <a:solidFill>
                  <a:srgbClr val="065A82"/>
                </a:solidFill>
                <a:latin typeface="Calibri"/>
              </a:rPr>
              <a:t>sensor_15</a:t>
            </a:r>
          </a:p>
        </p:txBody>
      </p:sp>
      <p:sp>
        <p:nvSpPr>
          <p:cNvPr id="29" name="Rectangle 28"/>
          <p:cNvSpPr/>
          <p:nvPr/>
        </p:nvSpPr>
        <p:spPr>
          <a:xfrm>
            <a:off x="2011680" y="3163824"/>
            <a:ext cx="1179094" cy="246888"/>
          </a:xfrm>
          <a:prstGeom prst="rect">
            <a:avLst/>
          </a:prstGeom>
          <a:solidFill>
            <a:srgbClr val="80BC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 noProof="0" dirty="0"/>
          </a:p>
        </p:txBody>
      </p:sp>
      <p:sp>
        <p:nvSpPr>
          <p:cNvPr id="30" name="TextBox 29"/>
          <p:cNvSpPr txBox="1"/>
          <p:nvPr/>
        </p:nvSpPr>
        <p:spPr>
          <a:xfrm>
            <a:off x="3236494" y="3145536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s-AR" sz="1000" b="1" i="0" noProof="0" dirty="0">
                <a:solidFill>
                  <a:srgbClr val="065A82"/>
                </a:solidFill>
                <a:latin typeface="Calibri"/>
              </a:rPr>
              <a:t>7%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778240" y="3127248"/>
            <a:ext cx="301752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AR" sz="1000" b="0" i="1" noProof="0" dirty="0">
                <a:solidFill>
                  <a:srgbClr val="64748B"/>
                </a:solidFill>
                <a:latin typeface="Calibri"/>
              </a:rPr>
              <a:t>Presión estática</a:t>
            </a:r>
            <a:r>
              <a:rPr lang="es-AR" sz="1000" i="1" noProof="0" dirty="0">
                <a:solidFill>
                  <a:srgbClr val="64748B"/>
                </a:solidFill>
                <a:latin typeface="Calibri"/>
              </a:rPr>
              <a:t> </a:t>
            </a:r>
            <a:r>
              <a:rPr lang="es-AR" sz="1000" i="1" noProof="0" dirty="0">
                <a:solidFill>
                  <a:srgbClr val="64748B"/>
                </a:solidFill>
              </a:rPr>
              <a:t>(inventado)</a:t>
            </a:r>
            <a:endParaRPr lang="es-AR" sz="1000" b="0" i="1" noProof="0" dirty="0">
              <a:solidFill>
                <a:srgbClr val="64748B"/>
              </a:solidFill>
              <a:latin typeface="Calibri"/>
            </a:endParaRPr>
          </a:p>
        </p:txBody>
      </p:sp>
      <p:sp>
        <p:nvSpPr>
          <p:cNvPr id="32" name="Rectangle 31"/>
          <p:cNvSpPr/>
          <p:nvPr/>
        </p:nvSpPr>
        <p:spPr>
          <a:xfrm>
            <a:off x="274320" y="3520440"/>
            <a:ext cx="11612880" cy="420623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 noProof="0" dirty="0"/>
          </a:p>
        </p:txBody>
      </p:sp>
      <p:sp>
        <p:nvSpPr>
          <p:cNvPr id="33" name="TextBox 32"/>
          <p:cNvSpPr txBox="1"/>
          <p:nvPr/>
        </p:nvSpPr>
        <p:spPr>
          <a:xfrm>
            <a:off x="320040" y="3575304"/>
            <a:ext cx="1645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s-AR" sz="1100" b="1" i="0" noProof="0" dirty="0">
                <a:solidFill>
                  <a:srgbClr val="065A82"/>
                </a:solidFill>
                <a:latin typeface="Calibri"/>
              </a:rPr>
              <a:t>sensor_7</a:t>
            </a:r>
          </a:p>
        </p:txBody>
      </p:sp>
      <p:sp>
        <p:nvSpPr>
          <p:cNvPr id="34" name="Rectangle 33"/>
          <p:cNvSpPr/>
          <p:nvPr/>
        </p:nvSpPr>
        <p:spPr>
          <a:xfrm>
            <a:off x="2011680" y="3611880"/>
            <a:ext cx="842210" cy="246888"/>
          </a:xfrm>
          <a:prstGeom prst="rect">
            <a:avLst/>
          </a:prstGeom>
          <a:solidFill>
            <a:srgbClr val="80BC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 noProof="0" dirty="0"/>
          </a:p>
        </p:txBody>
      </p:sp>
      <p:sp>
        <p:nvSpPr>
          <p:cNvPr id="35" name="TextBox 34"/>
          <p:cNvSpPr txBox="1"/>
          <p:nvPr/>
        </p:nvSpPr>
        <p:spPr>
          <a:xfrm>
            <a:off x="2899610" y="3593592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s-AR" sz="1000" b="1" i="0" noProof="0" dirty="0">
                <a:solidFill>
                  <a:srgbClr val="065A82"/>
                </a:solidFill>
                <a:latin typeface="Calibri"/>
              </a:rPr>
              <a:t>5%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778240" y="3575304"/>
            <a:ext cx="301752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AR" sz="1000" i="1" noProof="0" dirty="0">
                <a:solidFill>
                  <a:srgbClr val="64748B"/>
                </a:solidFill>
                <a:latin typeface="Calibri"/>
              </a:rPr>
              <a:t>T</a:t>
            </a:r>
            <a:r>
              <a:rPr lang="es-AR" sz="1000" b="0" i="1" noProof="0" dirty="0">
                <a:solidFill>
                  <a:srgbClr val="64748B"/>
                </a:solidFill>
                <a:latin typeface="Calibri"/>
              </a:rPr>
              <a:t>emperatura </a:t>
            </a:r>
            <a:r>
              <a:rPr lang="es-AR" sz="1000" i="1" noProof="0" dirty="0">
                <a:solidFill>
                  <a:srgbClr val="64748B"/>
                </a:solidFill>
                <a:latin typeface="Calibri"/>
              </a:rPr>
              <a:t>de </a:t>
            </a:r>
            <a:r>
              <a:rPr lang="es-AR" sz="1000" b="0" i="1" noProof="0" dirty="0">
                <a:solidFill>
                  <a:srgbClr val="64748B"/>
                </a:solidFill>
                <a:latin typeface="Calibri"/>
              </a:rPr>
              <a:t>salida</a:t>
            </a:r>
            <a:r>
              <a:rPr lang="es-AR" sz="1000" i="1" noProof="0" dirty="0">
                <a:solidFill>
                  <a:srgbClr val="64748B"/>
                </a:solidFill>
              </a:rPr>
              <a:t> (inventado)</a:t>
            </a:r>
            <a:endParaRPr lang="es-AR" sz="1000" b="0" i="1" noProof="0" dirty="0">
              <a:solidFill>
                <a:srgbClr val="64748B"/>
              </a:solidFill>
              <a:latin typeface="Calibri"/>
            </a:endParaRPr>
          </a:p>
        </p:txBody>
      </p:sp>
      <p:sp>
        <p:nvSpPr>
          <p:cNvPr id="37" name="Rectangle 36"/>
          <p:cNvSpPr/>
          <p:nvPr/>
        </p:nvSpPr>
        <p:spPr>
          <a:xfrm>
            <a:off x="274320" y="3968496"/>
            <a:ext cx="11612880" cy="420623"/>
          </a:xfrm>
          <a:prstGeom prst="rect">
            <a:avLst/>
          </a:prstGeom>
          <a:solidFill>
            <a:srgbClr val="F5F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 noProof="0" dirty="0"/>
          </a:p>
        </p:txBody>
      </p:sp>
      <p:sp>
        <p:nvSpPr>
          <p:cNvPr id="38" name="TextBox 37"/>
          <p:cNvSpPr txBox="1"/>
          <p:nvPr/>
        </p:nvSpPr>
        <p:spPr>
          <a:xfrm>
            <a:off x="320040" y="4023359"/>
            <a:ext cx="1645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s-AR" sz="1100" b="1" i="0" noProof="0" dirty="0">
                <a:solidFill>
                  <a:srgbClr val="065A82"/>
                </a:solidFill>
                <a:latin typeface="Calibri"/>
              </a:rPr>
              <a:t>sensor_9</a:t>
            </a:r>
          </a:p>
        </p:txBody>
      </p:sp>
      <p:sp>
        <p:nvSpPr>
          <p:cNvPr id="39" name="Rectangle 38"/>
          <p:cNvSpPr/>
          <p:nvPr/>
        </p:nvSpPr>
        <p:spPr>
          <a:xfrm>
            <a:off x="2011680" y="4059935"/>
            <a:ext cx="673768" cy="246888"/>
          </a:xfrm>
          <a:prstGeom prst="rect">
            <a:avLst/>
          </a:prstGeom>
          <a:solidFill>
            <a:srgbClr val="80BC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 noProof="0" dirty="0"/>
          </a:p>
        </p:txBody>
      </p:sp>
      <p:sp>
        <p:nvSpPr>
          <p:cNvPr id="40" name="TextBox 39"/>
          <p:cNvSpPr txBox="1"/>
          <p:nvPr/>
        </p:nvSpPr>
        <p:spPr>
          <a:xfrm>
            <a:off x="2731168" y="4041648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s-AR" sz="1000" b="1" i="0" noProof="0" dirty="0">
                <a:solidFill>
                  <a:srgbClr val="065A82"/>
                </a:solidFill>
                <a:latin typeface="Calibri"/>
              </a:rPr>
              <a:t>4%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778240" y="4023359"/>
            <a:ext cx="301752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AR" sz="1000" b="0" i="1" noProof="0" dirty="0">
                <a:solidFill>
                  <a:srgbClr val="64748B"/>
                </a:solidFill>
                <a:latin typeface="Calibri"/>
              </a:rPr>
              <a:t>Velocidad del fan rpm</a:t>
            </a:r>
            <a:r>
              <a:rPr lang="es-AR" sz="1000" i="1" noProof="0" dirty="0">
                <a:solidFill>
                  <a:srgbClr val="64748B"/>
                </a:solidFill>
              </a:rPr>
              <a:t> (inventado)</a:t>
            </a:r>
            <a:endParaRPr lang="es-AR" sz="1000" b="0" i="1" noProof="0" dirty="0">
              <a:solidFill>
                <a:srgbClr val="64748B"/>
              </a:solidFill>
              <a:latin typeface="Calibri"/>
            </a:endParaRPr>
          </a:p>
        </p:txBody>
      </p:sp>
      <p:sp>
        <p:nvSpPr>
          <p:cNvPr id="42" name="Rectangle 41"/>
          <p:cNvSpPr/>
          <p:nvPr/>
        </p:nvSpPr>
        <p:spPr>
          <a:xfrm>
            <a:off x="274320" y="4416552"/>
            <a:ext cx="11612880" cy="420623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 noProof="0" dirty="0"/>
          </a:p>
        </p:txBody>
      </p:sp>
      <p:sp>
        <p:nvSpPr>
          <p:cNvPr id="43" name="TextBox 42"/>
          <p:cNvSpPr txBox="1"/>
          <p:nvPr/>
        </p:nvSpPr>
        <p:spPr>
          <a:xfrm>
            <a:off x="320040" y="4471416"/>
            <a:ext cx="1645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s-AR" sz="1100" b="1" i="0" noProof="0" dirty="0">
                <a:solidFill>
                  <a:srgbClr val="065A82"/>
                </a:solidFill>
                <a:latin typeface="Calibri"/>
              </a:rPr>
              <a:t>sensor_14</a:t>
            </a:r>
          </a:p>
        </p:txBody>
      </p:sp>
      <p:sp>
        <p:nvSpPr>
          <p:cNvPr id="44" name="Rectangle 43"/>
          <p:cNvSpPr/>
          <p:nvPr/>
        </p:nvSpPr>
        <p:spPr>
          <a:xfrm>
            <a:off x="2011680" y="4507992"/>
            <a:ext cx="505326" cy="246888"/>
          </a:xfrm>
          <a:prstGeom prst="rect">
            <a:avLst/>
          </a:prstGeom>
          <a:solidFill>
            <a:srgbClr val="80BC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 noProof="0" dirty="0"/>
          </a:p>
        </p:txBody>
      </p:sp>
      <p:sp>
        <p:nvSpPr>
          <p:cNvPr id="45" name="TextBox 44"/>
          <p:cNvSpPr txBox="1"/>
          <p:nvPr/>
        </p:nvSpPr>
        <p:spPr>
          <a:xfrm>
            <a:off x="2562726" y="4489704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s-AR" sz="1000" b="1" i="0" noProof="0" dirty="0">
                <a:solidFill>
                  <a:srgbClr val="065A82"/>
                </a:solidFill>
                <a:latin typeface="Calibri"/>
              </a:rPr>
              <a:t>3%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778240" y="4471416"/>
            <a:ext cx="301752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AR" sz="1000" b="0" i="1" noProof="0" dirty="0">
                <a:solidFill>
                  <a:srgbClr val="64748B"/>
                </a:solidFill>
                <a:latin typeface="Calibri"/>
              </a:rPr>
              <a:t>Flujo de combustible </a:t>
            </a:r>
            <a:r>
              <a:rPr lang="es-AR" sz="1000" i="1" noProof="0" dirty="0">
                <a:solidFill>
                  <a:srgbClr val="64748B"/>
                </a:solidFill>
              </a:rPr>
              <a:t>(inventado)</a:t>
            </a:r>
            <a:endParaRPr lang="es-AR" sz="1000" b="0" i="1" noProof="0" dirty="0">
              <a:solidFill>
                <a:srgbClr val="64748B"/>
              </a:solidFill>
              <a:latin typeface="Calibri"/>
            </a:endParaRPr>
          </a:p>
        </p:txBody>
      </p:sp>
      <p:sp>
        <p:nvSpPr>
          <p:cNvPr id="47" name="Rectangle 46"/>
          <p:cNvSpPr/>
          <p:nvPr/>
        </p:nvSpPr>
        <p:spPr>
          <a:xfrm>
            <a:off x="274320" y="4864608"/>
            <a:ext cx="11612880" cy="420623"/>
          </a:xfrm>
          <a:prstGeom prst="rect">
            <a:avLst/>
          </a:prstGeom>
          <a:solidFill>
            <a:srgbClr val="F5F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 noProof="0" dirty="0"/>
          </a:p>
        </p:txBody>
      </p:sp>
      <p:sp>
        <p:nvSpPr>
          <p:cNvPr id="48" name="TextBox 47"/>
          <p:cNvSpPr txBox="1"/>
          <p:nvPr/>
        </p:nvSpPr>
        <p:spPr>
          <a:xfrm>
            <a:off x="320040" y="4919472"/>
            <a:ext cx="1645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s-AR" sz="1100" b="1" i="0" noProof="0" dirty="0">
                <a:solidFill>
                  <a:srgbClr val="065A82"/>
                </a:solidFill>
                <a:latin typeface="Calibri"/>
              </a:rPr>
              <a:t>sensor_2</a:t>
            </a:r>
          </a:p>
        </p:txBody>
      </p:sp>
      <p:sp>
        <p:nvSpPr>
          <p:cNvPr id="49" name="Rectangle 48"/>
          <p:cNvSpPr/>
          <p:nvPr/>
        </p:nvSpPr>
        <p:spPr>
          <a:xfrm>
            <a:off x="2011680" y="4956048"/>
            <a:ext cx="336884" cy="246888"/>
          </a:xfrm>
          <a:prstGeom prst="rect">
            <a:avLst/>
          </a:prstGeom>
          <a:solidFill>
            <a:srgbClr val="80BC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 noProof="0" dirty="0"/>
          </a:p>
        </p:txBody>
      </p:sp>
      <p:sp>
        <p:nvSpPr>
          <p:cNvPr id="50" name="TextBox 49"/>
          <p:cNvSpPr txBox="1"/>
          <p:nvPr/>
        </p:nvSpPr>
        <p:spPr>
          <a:xfrm>
            <a:off x="2394284" y="493776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s-AR" sz="1000" b="1" i="0" noProof="0" dirty="0">
                <a:solidFill>
                  <a:srgbClr val="065A82"/>
                </a:solidFill>
                <a:latin typeface="Calibri"/>
              </a:rPr>
              <a:t>2%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8778240" y="4919472"/>
            <a:ext cx="301752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AR" sz="1000" b="0" i="1" noProof="0" dirty="0">
                <a:solidFill>
                  <a:srgbClr val="64748B"/>
                </a:solidFill>
                <a:latin typeface="Calibri"/>
              </a:rPr>
              <a:t>Temperatura total </a:t>
            </a:r>
            <a:r>
              <a:rPr lang="es-AR" sz="1000" i="1" noProof="0" dirty="0">
                <a:solidFill>
                  <a:srgbClr val="64748B"/>
                </a:solidFill>
              </a:rPr>
              <a:t>(inventado)</a:t>
            </a:r>
            <a:endParaRPr lang="es-AR" sz="1000" b="0" i="1" noProof="0" dirty="0">
              <a:solidFill>
                <a:srgbClr val="64748B"/>
              </a:solidFill>
              <a:latin typeface="Calibri"/>
            </a:endParaRPr>
          </a:p>
        </p:txBody>
      </p:sp>
      <p:sp>
        <p:nvSpPr>
          <p:cNvPr id="52" name="Rectangle 51"/>
          <p:cNvSpPr/>
          <p:nvPr/>
        </p:nvSpPr>
        <p:spPr>
          <a:xfrm>
            <a:off x="274320" y="5312664"/>
            <a:ext cx="11612880" cy="420623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 noProof="0" dirty="0"/>
          </a:p>
        </p:txBody>
      </p:sp>
      <p:sp>
        <p:nvSpPr>
          <p:cNvPr id="53" name="TextBox 52"/>
          <p:cNvSpPr txBox="1"/>
          <p:nvPr/>
        </p:nvSpPr>
        <p:spPr>
          <a:xfrm>
            <a:off x="320040" y="5367528"/>
            <a:ext cx="1645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s-AR" sz="1100" b="1" i="0" noProof="0" dirty="0">
                <a:solidFill>
                  <a:srgbClr val="065A82"/>
                </a:solidFill>
                <a:latin typeface="Calibri"/>
              </a:rPr>
              <a:t>sensor_8</a:t>
            </a:r>
          </a:p>
        </p:txBody>
      </p:sp>
      <p:sp>
        <p:nvSpPr>
          <p:cNvPr id="54" name="Rectangle 53"/>
          <p:cNvSpPr/>
          <p:nvPr/>
        </p:nvSpPr>
        <p:spPr>
          <a:xfrm>
            <a:off x="2011680" y="5404104"/>
            <a:ext cx="168442" cy="246888"/>
          </a:xfrm>
          <a:prstGeom prst="rect">
            <a:avLst/>
          </a:prstGeom>
          <a:solidFill>
            <a:srgbClr val="80BC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 noProof="0" dirty="0"/>
          </a:p>
        </p:txBody>
      </p:sp>
      <p:sp>
        <p:nvSpPr>
          <p:cNvPr id="55" name="TextBox 54"/>
          <p:cNvSpPr txBox="1"/>
          <p:nvPr/>
        </p:nvSpPr>
        <p:spPr>
          <a:xfrm>
            <a:off x="2225842" y="5385816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s-AR" sz="1000" b="1" i="0" noProof="0" dirty="0">
                <a:solidFill>
                  <a:srgbClr val="065A82"/>
                </a:solidFill>
                <a:latin typeface="Calibri"/>
              </a:rPr>
              <a:t>1%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8778240" y="5367528"/>
            <a:ext cx="301752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AR" sz="1000" b="0" i="1" noProof="0" dirty="0">
                <a:solidFill>
                  <a:srgbClr val="64748B"/>
                </a:solidFill>
                <a:latin typeface="Calibri"/>
              </a:rPr>
              <a:t>Velocidad del núcleo rpm</a:t>
            </a:r>
            <a:r>
              <a:rPr lang="es-AR" sz="1000" i="1" noProof="0" dirty="0">
                <a:solidFill>
                  <a:srgbClr val="64748B"/>
                </a:solidFill>
              </a:rPr>
              <a:t> (inventado)</a:t>
            </a:r>
            <a:endParaRPr lang="es-AR" sz="1000" b="0" i="1" noProof="0" dirty="0">
              <a:solidFill>
                <a:srgbClr val="64748B"/>
              </a:solidFill>
              <a:latin typeface="Calibri"/>
            </a:endParaRPr>
          </a:p>
        </p:txBody>
      </p:sp>
      <p:sp>
        <p:nvSpPr>
          <p:cNvPr id="57" name="TextBox 56"/>
          <p:cNvSpPr txBox="1"/>
          <p:nvPr/>
        </p:nvSpPr>
        <p:spPr>
          <a:xfrm>
            <a:off x="274320" y="6035040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s-AR" sz="1100" b="0" i="1" noProof="0" dirty="0">
                <a:solidFill>
                  <a:srgbClr val="64748B"/>
                </a:solidFill>
                <a:latin typeface="Calibri"/>
              </a:rPr>
              <a:t>* El ciclo acumulado y los sensores relacionados a temperatura y presión son los predictores más relevantes.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0F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 noProof="0" dirty="0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 noProof="0" dirty="0"/>
          </a:p>
        </p:txBody>
      </p:sp>
      <p:sp>
        <p:nvSpPr>
          <p:cNvPr id="4" name="Rectangle 3"/>
          <p:cNvSpPr/>
          <p:nvPr/>
        </p:nvSpPr>
        <p:spPr>
          <a:xfrm>
            <a:off x="0" y="1005840"/>
            <a:ext cx="12188952" cy="45720"/>
          </a:xfrm>
          <a:prstGeom prst="rect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 noProof="0" dirty="0"/>
          </a:p>
        </p:txBody>
      </p:sp>
      <p:sp>
        <p:nvSpPr>
          <p:cNvPr id="5" name="TextBox 4"/>
          <p:cNvSpPr txBox="1"/>
          <p:nvPr/>
        </p:nvSpPr>
        <p:spPr>
          <a:xfrm>
            <a:off x="365760" y="13716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s-AR" sz="2800" b="1" i="0" noProof="0" dirty="0">
                <a:solidFill>
                  <a:srgbClr val="FFFFFF"/>
                </a:solidFill>
                <a:latin typeface="Calibri"/>
              </a:rPr>
              <a:t>Validación del Modelo y Capacidad de Generalización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73152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s-AR" sz="1300" b="0" i="1" noProof="0" dirty="0">
                <a:solidFill>
                  <a:srgbClr val="B0D0E8"/>
                </a:solidFill>
                <a:latin typeface="Calibri"/>
              </a:rPr>
              <a:t>Cross-</a:t>
            </a:r>
            <a:r>
              <a:rPr lang="es-AR" sz="1300" b="0" i="1" noProof="0" dirty="0" err="1">
                <a:solidFill>
                  <a:srgbClr val="B0D0E8"/>
                </a:solidFill>
                <a:latin typeface="Calibri"/>
              </a:rPr>
              <a:t>Validation</a:t>
            </a:r>
            <a:r>
              <a:rPr lang="es-AR" sz="1300" b="0" i="1" noProof="0" dirty="0">
                <a:solidFill>
                  <a:srgbClr val="B0D0E8"/>
                </a:solidFill>
                <a:latin typeface="Calibri"/>
              </a:rPr>
              <a:t> 5-Fold · Resultados consistentes</a:t>
            </a:r>
          </a:p>
        </p:txBody>
      </p:sp>
      <p:sp>
        <p:nvSpPr>
          <p:cNvPr id="7" name="Rectangle 6"/>
          <p:cNvSpPr/>
          <p:nvPr/>
        </p:nvSpPr>
        <p:spPr>
          <a:xfrm>
            <a:off x="320040" y="1234440"/>
            <a:ext cx="5394960" cy="4663440"/>
          </a:xfrm>
          <a:prstGeom prst="rect">
            <a:avLst/>
          </a:prstGeom>
          <a:solidFill>
            <a:srgbClr val="FFFFFF"/>
          </a:solidFill>
          <a:ln w="12700">
            <a:solidFill>
              <a:srgbClr val="CCDD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 noProof="0" dirty="0"/>
          </a:p>
        </p:txBody>
      </p:sp>
      <p:sp>
        <p:nvSpPr>
          <p:cNvPr id="8" name="Rectangle 7"/>
          <p:cNvSpPr/>
          <p:nvPr/>
        </p:nvSpPr>
        <p:spPr>
          <a:xfrm>
            <a:off x="320040" y="1234440"/>
            <a:ext cx="5394960" cy="64008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 noProof="0" dirty="0"/>
          </a:p>
        </p:txBody>
      </p:sp>
      <p:sp>
        <p:nvSpPr>
          <p:cNvPr id="9" name="TextBox 8"/>
          <p:cNvSpPr txBox="1"/>
          <p:nvPr/>
        </p:nvSpPr>
        <p:spPr>
          <a:xfrm>
            <a:off x="784748" y="1366960"/>
            <a:ext cx="512064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s-AR" sz="1400" b="1" i="0" noProof="0" dirty="0">
                <a:solidFill>
                  <a:srgbClr val="065A82"/>
                </a:solidFill>
                <a:latin typeface="Calibri"/>
              </a:rPr>
              <a:t>Validación Cruzada — R² por Fold</a:t>
            </a:r>
          </a:p>
        </p:txBody>
      </p:sp>
      <p:sp>
        <p:nvSpPr>
          <p:cNvPr id="10" name="Rectangle 9"/>
          <p:cNvSpPr/>
          <p:nvPr/>
        </p:nvSpPr>
        <p:spPr>
          <a:xfrm>
            <a:off x="1371600" y="2011680"/>
            <a:ext cx="3246120" cy="384048"/>
          </a:xfrm>
          <a:prstGeom prst="rect">
            <a:avLst/>
          </a:prstGeom>
          <a:solidFill>
            <a:srgbClr val="1C7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 noProof="0" dirty="0"/>
          </a:p>
        </p:txBody>
      </p:sp>
      <p:sp>
        <p:nvSpPr>
          <p:cNvPr id="11" name="TextBox 10"/>
          <p:cNvSpPr txBox="1"/>
          <p:nvPr/>
        </p:nvSpPr>
        <p:spPr>
          <a:xfrm>
            <a:off x="411480" y="201168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s-AR" sz="1100" b="0" i="0" noProof="0" dirty="0">
                <a:solidFill>
                  <a:srgbClr val="065A82"/>
                </a:solidFill>
                <a:latin typeface="Calibri"/>
              </a:rPr>
              <a:t>Fold 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63440" y="2029968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s-AR" sz="1100" b="0" i="0" noProof="0" dirty="0">
                <a:solidFill>
                  <a:srgbClr val="065A82"/>
                </a:solidFill>
                <a:latin typeface="Calibri"/>
              </a:rPr>
              <a:t>0.710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371600" y="2624328"/>
            <a:ext cx="3337560" cy="384048"/>
          </a:xfrm>
          <a:prstGeom prst="rect">
            <a:avLst/>
          </a:prstGeom>
          <a:solidFill>
            <a:srgbClr val="1C7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 noProof="0" dirty="0"/>
          </a:p>
        </p:txBody>
      </p:sp>
      <p:sp>
        <p:nvSpPr>
          <p:cNvPr id="14" name="TextBox 13"/>
          <p:cNvSpPr txBox="1"/>
          <p:nvPr/>
        </p:nvSpPr>
        <p:spPr>
          <a:xfrm>
            <a:off x="411480" y="2624328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s-AR" sz="1100" b="0" i="0" noProof="0" dirty="0">
                <a:solidFill>
                  <a:srgbClr val="065A82"/>
                </a:solidFill>
                <a:latin typeface="Calibri"/>
              </a:rPr>
              <a:t>Fold 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754880" y="2642616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s-AR" sz="1100" b="0" i="0" noProof="0" dirty="0">
                <a:solidFill>
                  <a:srgbClr val="065A82"/>
                </a:solidFill>
                <a:latin typeface="Calibri"/>
              </a:rPr>
              <a:t>0.730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371600" y="3236976"/>
            <a:ext cx="3291839" cy="384048"/>
          </a:xfrm>
          <a:prstGeom prst="rect">
            <a:avLst/>
          </a:prstGeom>
          <a:solidFill>
            <a:srgbClr val="1C7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 noProof="0" dirty="0"/>
          </a:p>
        </p:txBody>
      </p:sp>
      <p:sp>
        <p:nvSpPr>
          <p:cNvPr id="17" name="TextBox 16"/>
          <p:cNvSpPr txBox="1"/>
          <p:nvPr/>
        </p:nvSpPr>
        <p:spPr>
          <a:xfrm>
            <a:off x="411480" y="3236976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s-AR" sz="1100" b="0" i="0" noProof="0" dirty="0">
                <a:solidFill>
                  <a:srgbClr val="065A82"/>
                </a:solidFill>
                <a:latin typeface="Calibri"/>
              </a:rPr>
              <a:t>Fold 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709159" y="3255264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s-AR" sz="1100" b="0" i="0" noProof="0" dirty="0">
                <a:solidFill>
                  <a:srgbClr val="065A82"/>
                </a:solidFill>
                <a:latin typeface="Calibri"/>
              </a:rPr>
              <a:t>0.720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371600" y="3849624"/>
            <a:ext cx="3246120" cy="384048"/>
          </a:xfrm>
          <a:prstGeom prst="rect">
            <a:avLst/>
          </a:prstGeom>
          <a:solidFill>
            <a:srgbClr val="1C7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 noProof="0" dirty="0"/>
          </a:p>
        </p:txBody>
      </p:sp>
      <p:sp>
        <p:nvSpPr>
          <p:cNvPr id="20" name="TextBox 19"/>
          <p:cNvSpPr txBox="1"/>
          <p:nvPr/>
        </p:nvSpPr>
        <p:spPr>
          <a:xfrm>
            <a:off x="411480" y="3849624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s-AR" sz="1100" b="0" i="0" noProof="0" dirty="0">
                <a:solidFill>
                  <a:srgbClr val="065A82"/>
                </a:solidFill>
                <a:latin typeface="Calibri"/>
              </a:rPr>
              <a:t>Fold 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663440" y="3867912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s-AR" sz="1100" b="0" i="0" noProof="0" dirty="0">
                <a:solidFill>
                  <a:srgbClr val="065A82"/>
                </a:solidFill>
                <a:latin typeface="Calibri"/>
              </a:rPr>
              <a:t>0.710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371600" y="4462272"/>
            <a:ext cx="3383280" cy="384048"/>
          </a:xfrm>
          <a:prstGeom prst="rect">
            <a:avLst/>
          </a:prstGeom>
          <a:solidFill>
            <a:srgbClr val="1C7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 noProof="0" dirty="0"/>
          </a:p>
        </p:txBody>
      </p:sp>
      <p:sp>
        <p:nvSpPr>
          <p:cNvPr id="23" name="TextBox 22"/>
          <p:cNvSpPr txBox="1"/>
          <p:nvPr/>
        </p:nvSpPr>
        <p:spPr>
          <a:xfrm>
            <a:off x="411480" y="4462272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s-AR" sz="1100" b="0" i="0" noProof="0" dirty="0">
                <a:solidFill>
                  <a:srgbClr val="065A82"/>
                </a:solidFill>
                <a:latin typeface="Calibri"/>
              </a:rPr>
              <a:t>Fold 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800600" y="448056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s-AR" sz="1100" b="0" i="0" noProof="0" dirty="0">
                <a:solidFill>
                  <a:srgbClr val="065A82"/>
                </a:solidFill>
                <a:latin typeface="Calibri"/>
              </a:rPr>
              <a:t>0.740</a:t>
            </a:r>
          </a:p>
        </p:txBody>
      </p:sp>
      <p:sp>
        <p:nvSpPr>
          <p:cNvPr id="25" name="Rectangle 24"/>
          <p:cNvSpPr/>
          <p:nvPr/>
        </p:nvSpPr>
        <p:spPr>
          <a:xfrm>
            <a:off x="1371600" y="5074920"/>
            <a:ext cx="3300984" cy="384048"/>
          </a:xfrm>
          <a:prstGeom prst="rect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 noProof="0" dirty="0"/>
          </a:p>
        </p:txBody>
      </p:sp>
      <p:sp>
        <p:nvSpPr>
          <p:cNvPr id="26" name="TextBox 25"/>
          <p:cNvSpPr txBox="1"/>
          <p:nvPr/>
        </p:nvSpPr>
        <p:spPr>
          <a:xfrm>
            <a:off x="411480" y="507492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s-AR" sz="1100" b="1" i="0" noProof="0" dirty="0">
                <a:solidFill>
                  <a:srgbClr val="065A82"/>
                </a:solidFill>
                <a:latin typeface="Calibri"/>
              </a:rPr>
              <a:t>Promedio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718304" y="5093208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s-AR" sz="1100" b="1" i="0" noProof="0" dirty="0">
                <a:solidFill>
                  <a:srgbClr val="065A82"/>
                </a:solidFill>
                <a:latin typeface="Calibri"/>
              </a:rPr>
              <a:t>0.722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035040" y="1234440"/>
            <a:ext cx="5806440" cy="4663440"/>
          </a:xfrm>
          <a:prstGeom prst="rect">
            <a:avLst/>
          </a:prstGeom>
          <a:solidFill>
            <a:srgbClr val="065A82"/>
          </a:solidFill>
          <a:ln w="12700">
            <a:solidFill>
              <a:srgbClr val="1C729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 noProof="0" dirty="0"/>
          </a:p>
        </p:txBody>
      </p:sp>
      <p:sp>
        <p:nvSpPr>
          <p:cNvPr id="29" name="TextBox 28"/>
          <p:cNvSpPr txBox="1"/>
          <p:nvPr/>
        </p:nvSpPr>
        <p:spPr>
          <a:xfrm>
            <a:off x="6490878" y="1371600"/>
            <a:ext cx="54864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s-AR" sz="1400" b="1" i="0" noProof="0" dirty="0">
                <a:solidFill>
                  <a:srgbClr val="02C39A"/>
                </a:solidFill>
                <a:latin typeface="Calibri"/>
              </a:rPr>
              <a:t>Conclusiones de Validación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217920" y="2011680"/>
            <a:ext cx="201168" cy="201168"/>
          </a:xfrm>
          <a:prstGeom prst="rect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 noProof="0" dirty="0"/>
          </a:p>
        </p:txBody>
      </p:sp>
      <p:sp>
        <p:nvSpPr>
          <p:cNvPr id="31" name="TextBox 30"/>
          <p:cNvSpPr txBox="1"/>
          <p:nvPr/>
        </p:nvSpPr>
        <p:spPr>
          <a:xfrm>
            <a:off x="6492240" y="1993392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s-AR" sz="1150" b="0" i="0" noProof="0" dirty="0">
                <a:solidFill>
                  <a:srgbClr val="E0EEF8"/>
                </a:solidFill>
                <a:latin typeface="Calibri"/>
              </a:rPr>
              <a:t>Resultados estables entre </a:t>
            </a:r>
            <a:r>
              <a:rPr lang="es-AR" sz="1150" b="0" i="0" noProof="0" dirty="0" err="1">
                <a:solidFill>
                  <a:srgbClr val="E0EEF8"/>
                </a:solidFill>
                <a:latin typeface="Calibri"/>
              </a:rPr>
              <a:t>folds</a:t>
            </a:r>
            <a:r>
              <a:rPr lang="es-AR" sz="1150" b="0" i="0" noProof="0" dirty="0">
                <a:solidFill>
                  <a:srgbClr val="E0EEF8"/>
                </a:solidFill>
                <a:latin typeface="Calibri"/>
              </a:rPr>
              <a:t> (σ &lt; 0.015), indicando baja varianza del modelo.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217920" y="2761488"/>
            <a:ext cx="201168" cy="201168"/>
          </a:xfrm>
          <a:prstGeom prst="rect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 noProof="0" dirty="0"/>
          </a:p>
        </p:txBody>
      </p:sp>
      <p:sp>
        <p:nvSpPr>
          <p:cNvPr id="33" name="TextBox 32"/>
          <p:cNvSpPr txBox="1"/>
          <p:nvPr/>
        </p:nvSpPr>
        <p:spPr>
          <a:xfrm>
            <a:off x="6492240" y="274320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s-AR" sz="1150" b="0" i="0" noProof="0" dirty="0">
                <a:solidFill>
                  <a:srgbClr val="E0EEF8"/>
                </a:solidFill>
                <a:latin typeface="Calibri"/>
              </a:rPr>
              <a:t>R² promedio de 0.722 confirma la capacidad predictiva del modelo optimizado.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217920" y="3511296"/>
            <a:ext cx="201168" cy="201168"/>
          </a:xfrm>
          <a:prstGeom prst="rect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 noProof="0" dirty="0"/>
          </a:p>
        </p:txBody>
      </p:sp>
      <p:sp>
        <p:nvSpPr>
          <p:cNvPr id="35" name="TextBox 34"/>
          <p:cNvSpPr txBox="1"/>
          <p:nvPr/>
        </p:nvSpPr>
        <p:spPr>
          <a:xfrm>
            <a:off x="6492240" y="3493008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s-AR" sz="1150" b="0" i="0" noProof="0" dirty="0">
                <a:solidFill>
                  <a:srgbClr val="E0EEF8"/>
                </a:solidFill>
                <a:latin typeface="Calibri"/>
              </a:rPr>
              <a:t>No se observan señales de sobreajuste (</a:t>
            </a:r>
            <a:r>
              <a:rPr lang="es-AR" sz="1150" b="0" i="0" noProof="0" dirty="0" err="1">
                <a:solidFill>
                  <a:srgbClr val="E0EEF8"/>
                </a:solidFill>
                <a:latin typeface="Calibri"/>
              </a:rPr>
              <a:t>overfitting</a:t>
            </a:r>
            <a:r>
              <a:rPr lang="es-AR" sz="1150" b="0" i="0" noProof="0" dirty="0">
                <a:solidFill>
                  <a:srgbClr val="E0EEF8"/>
                </a:solidFill>
                <a:latin typeface="Calibri"/>
              </a:rPr>
              <a:t>).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217920" y="4261104"/>
            <a:ext cx="201168" cy="201168"/>
          </a:xfrm>
          <a:prstGeom prst="rect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 noProof="0" dirty="0"/>
          </a:p>
        </p:txBody>
      </p:sp>
      <p:sp>
        <p:nvSpPr>
          <p:cNvPr id="37" name="TextBox 36"/>
          <p:cNvSpPr txBox="1"/>
          <p:nvPr/>
        </p:nvSpPr>
        <p:spPr>
          <a:xfrm>
            <a:off x="6492240" y="4242816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s-AR" sz="1150" b="0" i="0" noProof="0" dirty="0">
                <a:solidFill>
                  <a:srgbClr val="E0EEF8"/>
                </a:solidFill>
                <a:latin typeface="Calibri"/>
              </a:rPr>
              <a:t>El modelo generaliza bien ante datos no vistos durante el entrenamiento.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217920" y="5010912"/>
            <a:ext cx="201168" cy="201168"/>
          </a:xfrm>
          <a:prstGeom prst="rect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 noProof="0" dirty="0"/>
          </a:p>
        </p:txBody>
      </p:sp>
      <p:sp>
        <p:nvSpPr>
          <p:cNvPr id="39" name="TextBox 38"/>
          <p:cNvSpPr txBox="1"/>
          <p:nvPr/>
        </p:nvSpPr>
        <p:spPr>
          <a:xfrm>
            <a:off x="6492240" y="4992624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s-AR" sz="1150" b="0" i="0" noProof="0" dirty="0" err="1">
                <a:solidFill>
                  <a:srgbClr val="E0EEF8"/>
                </a:solidFill>
                <a:latin typeface="Calibri"/>
              </a:rPr>
              <a:t>GridSearchCV</a:t>
            </a:r>
            <a:r>
              <a:rPr lang="es-AR" sz="1150" b="0" i="0" noProof="0" dirty="0">
                <a:solidFill>
                  <a:srgbClr val="E0EEF8"/>
                </a:solidFill>
                <a:latin typeface="Calibri"/>
              </a:rPr>
              <a:t> con </a:t>
            </a:r>
            <a:r>
              <a:rPr lang="es-AR" sz="1150" b="0" i="0" noProof="0" dirty="0" err="1">
                <a:solidFill>
                  <a:srgbClr val="E0EEF8"/>
                </a:solidFill>
                <a:latin typeface="Calibri"/>
              </a:rPr>
              <a:t>cv</a:t>
            </a:r>
            <a:r>
              <a:rPr lang="es-AR" sz="1150" b="0" i="0" noProof="0" dirty="0">
                <a:solidFill>
                  <a:srgbClr val="E0EEF8"/>
                </a:solidFill>
                <a:latin typeface="Calibri"/>
              </a:rPr>
              <a:t>=3 fue usado para la optimización de </a:t>
            </a:r>
            <a:r>
              <a:rPr lang="es-AR" sz="1150" b="0" i="0" noProof="0" dirty="0" err="1">
                <a:solidFill>
                  <a:srgbClr val="E0EEF8"/>
                </a:solidFill>
                <a:latin typeface="Calibri"/>
              </a:rPr>
              <a:t>hiperparámetros</a:t>
            </a:r>
            <a:r>
              <a:rPr lang="es-AR" sz="1150" b="0" i="0" noProof="0" dirty="0">
                <a:solidFill>
                  <a:srgbClr val="E0EEF8"/>
                </a:solidFill>
                <a:latin typeface="Calibri"/>
              </a:rPr>
              <a:t>.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217920" y="5715000"/>
            <a:ext cx="5394960" cy="36576"/>
          </a:xfrm>
          <a:prstGeom prst="rect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 noProof="0" dirty="0"/>
          </a:p>
        </p:txBody>
      </p:sp>
      <p:sp>
        <p:nvSpPr>
          <p:cNvPr id="41" name="TextBox 40"/>
          <p:cNvSpPr txBox="1"/>
          <p:nvPr/>
        </p:nvSpPr>
        <p:spPr>
          <a:xfrm>
            <a:off x="6217920" y="5779008"/>
            <a:ext cx="5394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s-AR" sz="1100" b="0" i="1" noProof="0" dirty="0">
                <a:solidFill>
                  <a:srgbClr val="02C39A"/>
                </a:solidFill>
                <a:latin typeface="Calibri"/>
              </a:rPr>
              <a:t>Modelo listo para producción con confianza estadística validada.</a:t>
            </a:r>
          </a:p>
        </p:txBody>
      </p:sp>
      <p:sp>
        <p:nvSpPr>
          <p:cNvPr id="42" name="Rectangle 19">
            <a:extLst>
              <a:ext uri="{FF2B5EF4-FFF2-40B4-BE49-F238E27FC236}">
                <a16:creationId xmlns:a16="http://schemas.microsoft.com/office/drawing/2014/main" id="{7CEDA80F-1A62-D0AD-3C86-6CED32C73031}"/>
              </a:ext>
            </a:extLst>
          </p:cNvPr>
          <p:cNvSpPr/>
          <p:nvPr/>
        </p:nvSpPr>
        <p:spPr>
          <a:xfrm>
            <a:off x="6212476" y="1454296"/>
            <a:ext cx="201168" cy="201168"/>
          </a:xfrm>
          <a:prstGeom prst="rect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 noProof="0" dirty="0"/>
          </a:p>
        </p:txBody>
      </p:sp>
      <p:pic>
        <p:nvPicPr>
          <p:cNvPr id="43" name="Picture 6" descr="Icono Solicitar aceptar cheque bien">
            <a:extLst>
              <a:ext uri="{FF2B5EF4-FFF2-40B4-BE49-F238E27FC236}">
                <a16:creationId xmlns:a16="http://schemas.microsoft.com/office/drawing/2014/main" id="{F6961B03-DC75-5790-CD72-979D64CFDAF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75077" y="1386456"/>
            <a:ext cx="339915" cy="33991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4" name="TextBox 8">
            <a:extLst>
              <a:ext uri="{FF2B5EF4-FFF2-40B4-BE49-F238E27FC236}">
                <a16:creationId xmlns:a16="http://schemas.microsoft.com/office/drawing/2014/main" id="{336CBD91-A4BD-C538-F601-18B701607B04}"/>
              </a:ext>
            </a:extLst>
          </p:cNvPr>
          <p:cNvSpPr txBox="1"/>
          <p:nvPr/>
        </p:nvSpPr>
        <p:spPr>
          <a:xfrm>
            <a:off x="457200" y="1371599"/>
            <a:ext cx="386687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s-AR" sz="1400" b="1" i="0" noProof="0" dirty="0">
                <a:solidFill>
                  <a:srgbClr val="065A82"/>
                </a:solidFill>
                <a:latin typeface="Calibri"/>
              </a:rPr>
              <a:t>📊 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 noProof="0" dirty="0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64008" cy="6858000"/>
          </a:xfrm>
          <a:prstGeom prst="rect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 noProof="0" dirty="0"/>
          </a:p>
        </p:txBody>
      </p:sp>
      <p:sp>
        <p:nvSpPr>
          <p:cNvPr id="4" name="Rectangle 3"/>
          <p:cNvSpPr/>
          <p:nvPr/>
        </p:nvSpPr>
        <p:spPr>
          <a:xfrm>
            <a:off x="0" y="6263640"/>
            <a:ext cx="12188952" cy="594360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 noProof="0" dirty="0"/>
          </a:p>
        </p:txBody>
      </p:sp>
      <p:sp>
        <p:nvSpPr>
          <p:cNvPr id="5" name="TextBox 4"/>
          <p:cNvSpPr txBox="1"/>
          <p:nvPr/>
        </p:nvSpPr>
        <p:spPr>
          <a:xfrm>
            <a:off x="457200" y="18288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s-AR" sz="1100" b="1" i="0" noProof="0" dirty="0">
                <a:solidFill>
                  <a:srgbClr val="02C39A"/>
                </a:solidFill>
                <a:latin typeface="Calibri"/>
              </a:rPr>
              <a:t>CONCLUSIONES Y PRÓXIMOS PASOS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54864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s-AR" sz="2800" b="1" i="0" noProof="0" dirty="0">
                <a:solidFill>
                  <a:srgbClr val="FFFFFF"/>
                </a:solidFill>
                <a:latin typeface="Calibri"/>
              </a:rPr>
              <a:t>Resultados del Proyecto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1325880"/>
            <a:ext cx="5486400" cy="4617720"/>
          </a:xfrm>
          <a:prstGeom prst="rect">
            <a:avLst/>
          </a:prstGeom>
          <a:solidFill>
            <a:srgbClr val="1220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 noProof="0" dirty="0"/>
          </a:p>
        </p:txBody>
      </p:sp>
      <p:sp>
        <p:nvSpPr>
          <p:cNvPr id="8" name="Rectangle 7"/>
          <p:cNvSpPr/>
          <p:nvPr/>
        </p:nvSpPr>
        <p:spPr>
          <a:xfrm>
            <a:off x="365760" y="1325880"/>
            <a:ext cx="5486400" cy="64008"/>
          </a:xfrm>
          <a:prstGeom prst="rect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 noProof="0" dirty="0"/>
          </a:p>
        </p:txBody>
      </p:sp>
      <p:sp>
        <p:nvSpPr>
          <p:cNvPr id="9" name="TextBox 8"/>
          <p:cNvSpPr txBox="1"/>
          <p:nvPr/>
        </p:nvSpPr>
        <p:spPr>
          <a:xfrm>
            <a:off x="1299275" y="1581096"/>
            <a:ext cx="50292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s-AR" sz="2000" b="1" i="0" noProof="0" dirty="0">
                <a:solidFill>
                  <a:srgbClr val="02C39A"/>
                </a:solidFill>
                <a:latin typeface="Calibri"/>
              </a:rPr>
              <a:t>Conclusiones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2238920"/>
            <a:ext cx="274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s-AR" sz="1400" b="1" i="0" noProof="0" dirty="0">
                <a:solidFill>
                  <a:srgbClr val="02C39A"/>
                </a:solidFill>
                <a:latin typeface="Calibri"/>
              </a:rPr>
              <a:t>✓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2211488"/>
            <a:ext cx="47548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s-AR" sz="1100" b="0" i="0" noProof="0" dirty="0">
                <a:solidFill>
                  <a:srgbClr val="C8DEF0"/>
                </a:solidFill>
                <a:latin typeface="Calibri"/>
              </a:rPr>
              <a:t>Se construyó exitosamente una variable objetivo (Vida Útil Restante) que refleja el desgaste real de los motores.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2970440"/>
            <a:ext cx="274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s-AR" sz="1400" b="1" i="0" noProof="0" dirty="0">
                <a:solidFill>
                  <a:srgbClr val="02C39A"/>
                </a:solidFill>
                <a:latin typeface="Calibri"/>
              </a:rPr>
              <a:t>✓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2943008"/>
            <a:ext cx="47548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s-AR" sz="1100" b="0" i="0" noProof="0" dirty="0">
                <a:solidFill>
                  <a:srgbClr val="C8DEF0"/>
                </a:solidFill>
                <a:latin typeface="Calibri"/>
              </a:rPr>
              <a:t>El modelo Random Forest Optimizado alcanzó R² = 0.722, explicando el 72% de la variabilidad.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3701960"/>
            <a:ext cx="274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s-AR" sz="1400" b="1" i="0" noProof="0" dirty="0">
                <a:solidFill>
                  <a:srgbClr val="02C39A"/>
                </a:solidFill>
                <a:latin typeface="Calibri"/>
              </a:rPr>
              <a:t>✓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3674528"/>
            <a:ext cx="47548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s-AR" sz="1100" b="0" i="0" noProof="0" dirty="0">
                <a:solidFill>
                  <a:srgbClr val="C8DEF0"/>
                </a:solidFill>
                <a:latin typeface="Calibri"/>
              </a:rPr>
              <a:t>Los modelos basados en árboles superaron a la regresión lineal, capturando relaciones no lineales.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" y="4433480"/>
            <a:ext cx="274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s-AR" sz="1400" b="1" i="0" noProof="0" dirty="0">
                <a:solidFill>
                  <a:srgbClr val="02C39A"/>
                </a:solidFill>
                <a:latin typeface="Calibri"/>
              </a:rPr>
              <a:t>✓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7240" y="4406048"/>
            <a:ext cx="47548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s-AR" sz="1100" b="0" i="0" noProof="0" dirty="0">
                <a:solidFill>
                  <a:srgbClr val="C8DEF0"/>
                </a:solidFill>
                <a:latin typeface="Calibri"/>
              </a:rPr>
              <a:t>La validación cruzada confirma buena capacidad de generalización sin sobreajuste.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2920" y="5165000"/>
            <a:ext cx="274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s-AR" sz="1400" b="1" i="0" noProof="0" dirty="0">
                <a:solidFill>
                  <a:srgbClr val="02C39A"/>
                </a:solidFill>
                <a:latin typeface="Calibri"/>
              </a:rPr>
              <a:t>✓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7240" y="5137568"/>
            <a:ext cx="47548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s-AR" sz="1100" b="0" i="0" noProof="0" dirty="0">
                <a:solidFill>
                  <a:srgbClr val="C8DEF0"/>
                </a:solidFill>
                <a:latin typeface="Calibri"/>
              </a:rPr>
              <a:t>El ciclo acumulado y sensores de temperatura/presión son los predictores más relevantes.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309360" y="1325880"/>
            <a:ext cx="5532120" cy="4617720"/>
          </a:xfrm>
          <a:prstGeom prst="rect">
            <a:avLst/>
          </a:prstGeom>
          <a:solidFill>
            <a:srgbClr val="053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 noProof="0" dirty="0"/>
          </a:p>
        </p:txBody>
      </p:sp>
      <p:sp>
        <p:nvSpPr>
          <p:cNvPr id="21" name="Rectangle 20"/>
          <p:cNvSpPr/>
          <p:nvPr/>
        </p:nvSpPr>
        <p:spPr>
          <a:xfrm>
            <a:off x="6309360" y="1325880"/>
            <a:ext cx="5532120" cy="64008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 noProof="0" dirty="0"/>
          </a:p>
        </p:txBody>
      </p:sp>
      <p:sp>
        <p:nvSpPr>
          <p:cNvPr id="22" name="TextBox 21"/>
          <p:cNvSpPr txBox="1"/>
          <p:nvPr/>
        </p:nvSpPr>
        <p:spPr>
          <a:xfrm>
            <a:off x="7611361" y="1499208"/>
            <a:ext cx="50292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s-AR" sz="2000" b="1" i="0" noProof="0" dirty="0">
                <a:solidFill>
                  <a:srgbClr val="F59E0B"/>
                </a:solidFill>
                <a:latin typeface="Calibri"/>
              </a:rPr>
              <a:t>Próximos Pasos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492240" y="2284640"/>
            <a:ext cx="1188720" cy="256032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 noProof="0" dirty="0"/>
          </a:p>
        </p:txBody>
      </p:sp>
      <p:sp>
        <p:nvSpPr>
          <p:cNvPr id="24" name="TextBox 23"/>
          <p:cNvSpPr txBox="1"/>
          <p:nvPr/>
        </p:nvSpPr>
        <p:spPr>
          <a:xfrm>
            <a:off x="6510528" y="2284640"/>
            <a:ext cx="115214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AR" sz="900" b="1" i="0" noProof="0" dirty="0">
                <a:solidFill>
                  <a:srgbClr val="1E293B"/>
                </a:solidFill>
                <a:latin typeface="Calibri"/>
              </a:rPr>
              <a:t>Corto plazo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772400" y="2184464"/>
            <a:ext cx="3840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s-AR" sz="1100" b="0" i="0" noProof="0" dirty="0">
                <a:solidFill>
                  <a:srgbClr val="C8DEF0"/>
                </a:solidFill>
                <a:latin typeface="Calibri"/>
              </a:rPr>
              <a:t>Aplicar modelo a datos FD002–FD004
(múltiples condiciones operativas).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492240" y="3244760"/>
            <a:ext cx="1188720" cy="256032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 noProof="0" dirty="0"/>
          </a:p>
        </p:txBody>
      </p:sp>
      <p:sp>
        <p:nvSpPr>
          <p:cNvPr id="27" name="TextBox 26"/>
          <p:cNvSpPr txBox="1"/>
          <p:nvPr/>
        </p:nvSpPr>
        <p:spPr>
          <a:xfrm>
            <a:off x="6510528" y="3244760"/>
            <a:ext cx="115214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AR" sz="900" b="1" i="0" noProof="0" dirty="0">
                <a:solidFill>
                  <a:srgbClr val="1E293B"/>
                </a:solidFill>
                <a:latin typeface="Calibri"/>
              </a:rPr>
              <a:t>Mediano plazo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772400" y="3144584"/>
            <a:ext cx="3840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s-AR" sz="1100" b="0" i="0" noProof="0" dirty="0">
                <a:solidFill>
                  <a:srgbClr val="C8DEF0"/>
                </a:solidFill>
                <a:latin typeface="Calibri"/>
              </a:rPr>
              <a:t>Implementar modelo en pipeline
de datos en tiempo real con sensores.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492240" y="4204880"/>
            <a:ext cx="1188720" cy="256032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 noProof="0" dirty="0"/>
          </a:p>
        </p:txBody>
      </p:sp>
      <p:sp>
        <p:nvSpPr>
          <p:cNvPr id="30" name="TextBox 29"/>
          <p:cNvSpPr txBox="1"/>
          <p:nvPr/>
        </p:nvSpPr>
        <p:spPr>
          <a:xfrm>
            <a:off x="6510528" y="4204880"/>
            <a:ext cx="115214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AR" sz="900" b="1" i="0" noProof="0" dirty="0">
                <a:solidFill>
                  <a:srgbClr val="1E293B"/>
                </a:solidFill>
                <a:latin typeface="Calibri"/>
              </a:rPr>
              <a:t>Objetivo real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772400" y="4104704"/>
            <a:ext cx="3840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s-AR" sz="1100" b="0" i="0" noProof="0" dirty="0">
                <a:solidFill>
                  <a:srgbClr val="C8DEF0"/>
                </a:solidFill>
                <a:latin typeface="Calibri"/>
              </a:rPr>
              <a:t>Adaptar metodología a baterías UPS
en entornos industriales críticos.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492240" y="5165000"/>
            <a:ext cx="1188720" cy="256032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 noProof="0" dirty="0"/>
          </a:p>
        </p:txBody>
      </p:sp>
      <p:sp>
        <p:nvSpPr>
          <p:cNvPr id="33" name="TextBox 32"/>
          <p:cNvSpPr txBox="1"/>
          <p:nvPr/>
        </p:nvSpPr>
        <p:spPr>
          <a:xfrm>
            <a:off x="6510528" y="5165000"/>
            <a:ext cx="115214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AR" sz="900" b="1" i="0" noProof="0" dirty="0">
                <a:solidFill>
                  <a:srgbClr val="1E293B"/>
                </a:solidFill>
                <a:latin typeface="Calibri"/>
              </a:rPr>
              <a:t>Mejoras ML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772400" y="5064824"/>
            <a:ext cx="3840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s-AR" sz="1100" b="0" i="0" noProof="0" dirty="0">
                <a:solidFill>
                  <a:srgbClr val="C8DEF0"/>
                </a:solidFill>
                <a:latin typeface="Calibri"/>
              </a:rPr>
              <a:t>Explorar LSTM / Deep </a:t>
            </a:r>
            <a:r>
              <a:rPr lang="es-AR" sz="1100" b="0" i="0" noProof="0" dirty="0" err="1">
                <a:solidFill>
                  <a:srgbClr val="C8DEF0"/>
                </a:solidFill>
                <a:latin typeface="Calibri"/>
              </a:rPr>
              <a:t>Learning</a:t>
            </a:r>
            <a:r>
              <a:rPr lang="es-AR" sz="1100" b="0" i="0" noProof="0" dirty="0">
                <a:solidFill>
                  <a:srgbClr val="C8DEF0"/>
                </a:solidFill>
                <a:latin typeface="Calibri"/>
              </a:rPr>
              <a:t>
para series temporales de sensores.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57200" y="6377600"/>
            <a:ext cx="1124712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AR" sz="1600" b="0" i="1" noProof="0" dirty="0">
                <a:solidFill>
                  <a:srgbClr val="64748B"/>
                </a:solidFill>
                <a:latin typeface="Calibri"/>
              </a:rPr>
              <a:t>Machine </a:t>
            </a:r>
            <a:r>
              <a:rPr lang="es-AR" sz="1600" b="0" i="1" noProof="0" dirty="0" err="1">
                <a:solidFill>
                  <a:srgbClr val="64748B"/>
                </a:solidFill>
                <a:latin typeface="Calibri"/>
              </a:rPr>
              <a:t>Learning</a:t>
            </a:r>
            <a:r>
              <a:rPr lang="es-AR" sz="1600" b="0" i="1" noProof="0" dirty="0">
                <a:solidFill>
                  <a:srgbClr val="64748B"/>
                </a:solidFill>
                <a:latin typeface="Calibri"/>
              </a:rPr>
              <a:t> aplicado a Mantenimiento Predictivo  ·  NASA </a:t>
            </a:r>
            <a:r>
              <a:rPr lang="es-AR" sz="1600" b="0" i="1" noProof="0" dirty="0" err="1">
                <a:solidFill>
                  <a:srgbClr val="64748B"/>
                </a:solidFill>
                <a:latin typeface="Calibri"/>
              </a:rPr>
              <a:t>Turbofan</a:t>
            </a:r>
            <a:r>
              <a:rPr lang="es-AR" sz="1600" b="0" i="1" noProof="0" dirty="0">
                <a:solidFill>
                  <a:srgbClr val="64748B"/>
                </a:solidFill>
                <a:latin typeface="Calibri"/>
              </a:rPr>
              <a:t> </a:t>
            </a:r>
            <a:r>
              <a:rPr lang="es-AR" sz="1600" b="0" i="1" noProof="0" dirty="0" err="1">
                <a:solidFill>
                  <a:srgbClr val="64748B"/>
                </a:solidFill>
                <a:latin typeface="Calibri"/>
              </a:rPr>
              <a:t>Dataset</a:t>
            </a:r>
            <a:endParaRPr lang="es-AR" sz="1600" b="0" i="1" noProof="0" dirty="0">
              <a:solidFill>
                <a:srgbClr val="64748B"/>
              </a:solidFill>
              <a:latin typeface="Calibri"/>
            </a:endParaRPr>
          </a:p>
        </p:txBody>
      </p:sp>
      <p:pic>
        <p:nvPicPr>
          <p:cNvPr id="5122" name="Picture 2" descr="Icono Cohete">
            <a:extLst>
              <a:ext uri="{FF2B5EF4-FFF2-40B4-BE49-F238E27FC236}">
                <a16:creationId xmlns:a16="http://schemas.microsoft.com/office/drawing/2014/main" id="{EE33F2E4-33F9-A765-634E-EF8D32842F7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12965" y="1412405"/>
            <a:ext cx="659053" cy="65905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124" name="Picture 4" descr="Icono Trofeo ganador copa">
            <a:extLst>
              <a:ext uri="{FF2B5EF4-FFF2-40B4-BE49-F238E27FC236}">
                <a16:creationId xmlns:a16="http://schemas.microsoft.com/office/drawing/2014/main" id="{064E30B2-3F8D-8D58-1E4D-1F41F31C046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2659" y="1456764"/>
            <a:ext cx="638556" cy="6385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361</TotalTime>
  <Words>1158</Words>
  <Application>Microsoft Office PowerPoint</Application>
  <PresentationFormat>Personalizado</PresentationFormat>
  <Paragraphs>219</Paragraphs>
  <Slides>10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Diego Godoy</dc:creator>
  <cp:keywords/>
  <dc:description>generated using python-pptx</dc:description>
  <cp:lastModifiedBy>Diego Godoy</cp:lastModifiedBy>
  <cp:revision>6</cp:revision>
  <dcterms:created xsi:type="dcterms:W3CDTF">2013-01-27T09:14:16Z</dcterms:created>
  <dcterms:modified xsi:type="dcterms:W3CDTF">2026-05-24T19:36:36Z</dcterms:modified>
  <cp:category/>
</cp:coreProperties>
</file>